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8288000" cy="10287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260C9E-80F4-EB83-DF50-19421A5562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074BF4-114F-B36D-92B5-B8FA433677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1491C0-2303-1FAA-1E6A-CDC72EBC67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54D4EF-F086-7BB1-1C07-5F61508A92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23558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74667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3105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4CCCC3-1DED-902C-D1F9-A430BEA153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1D73B9-98BB-2B7F-57FC-18007B5FEA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28083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6398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443652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014BE4-8550-6D6E-B48C-F62DDBDB70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6F9F04F-B8ED-FDD2-5BA7-416869C0DAB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31737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93562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234260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425461-0737-E73C-69A9-985EFAB1C85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2DF140-91A3-494F-CEE6-1E12988E77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1DD601-2CCC-787E-DBAB-7611B9A9593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2728794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4490247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9472723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46155592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5427274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41773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2368930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6178918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6358181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6156080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4143409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2132203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5984671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8287031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2876450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23535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3744756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5535518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290425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274864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2474954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742400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2568462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0364024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7117773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5075117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5331578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328643274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9080562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922285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2293299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8623410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2830785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980517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4262281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1006640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918459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77096173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3780513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8112212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1824170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9138322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9702156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88666421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8976941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2338312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45695134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752081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13820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5646889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6228867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89942795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287289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739867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21943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2182837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518692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8039692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725996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348802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8249018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92116226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6321445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media1.svg"/><Relationship Id="rId5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7A8B9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9880065" name="Freeform 2"/>
          <p:cNvSpPr/>
          <p:nvPr/>
        </p:nvSpPr>
        <p:spPr bwMode="auto">
          <a:xfrm rot="2172845" flipH="0" flipV="0">
            <a:off x="6368285" y="-727739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 fill="norm" stroke="1" extrusionOk="0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5000"/>
            </a:blip>
            <a:stretch>
              <a:fillRect l="0" t="0" r="0" b="0"/>
            </a:stretch>
          </a:blipFill>
        </p:spPr>
      </p:sp>
      <p:sp>
        <p:nvSpPr>
          <p:cNvPr id="685369280" name="Freeform 3"/>
          <p:cNvSpPr/>
          <p:nvPr/>
        </p:nvSpPr>
        <p:spPr bwMode="auto">
          <a:xfrm rot="2172845" flipH="0" flipV="0">
            <a:off x="-3843661" y="7384212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 fill="norm" stroke="1" extrusionOk="0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5000"/>
            </a:blip>
            <a:stretch>
              <a:fillRect l="0" t="0" r="0" b="0"/>
            </a:stretch>
          </a:blipFill>
        </p:spPr>
      </p:sp>
      <p:sp>
        <p:nvSpPr>
          <p:cNvPr id="1253615053" name="TextBox 4"/>
          <p:cNvSpPr txBox="1"/>
          <p:nvPr/>
        </p:nvSpPr>
        <p:spPr bwMode="auto">
          <a:xfrm rot="0">
            <a:off x="455300" y="2769881"/>
            <a:ext cx="11145680" cy="6166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2"/>
              </a:lnSpc>
              <a:defRPr/>
            </a:pPr>
            <a:r>
              <a:rPr lang="en-US" sz="10700" b="1">
                <a:solidFill>
                  <a:srgbClr val="FBF7E3"/>
                </a:solidFill>
                <a:latin typeface="Agrandir Bold"/>
                <a:ea typeface="Agrandir Bold"/>
                <a:cs typeface="Agrandir Bold"/>
              </a:rPr>
              <a:t>Software</a:t>
            </a:r>
            <a:endParaRPr/>
          </a:p>
          <a:p>
            <a:pPr algn="l">
              <a:lnSpc>
                <a:spcPts val="9092"/>
              </a:lnSpc>
              <a:defRPr/>
            </a:pPr>
            <a:r>
              <a:rPr lang="en-US" sz="10700" b="1">
                <a:solidFill>
                  <a:srgbClr val="FBF7E3"/>
                </a:solidFill>
                <a:latin typeface="Agrandir Bold"/>
                <a:ea typeface="Agrandir Bold"/>
                <a:cs typeface="Agrandir Bold"/>
              </a:rPr>
              <a:t>Architecture and</a:t>
            </a:r>
            <a:endParaRPr/>
          </a:p>
          <a:p>
            <a:pPr algn="l">
              <a:lnSpc>
                <a:spcPts val="9092"/>
              </a:lnSpc>
              <a:defRPr/>
            </a:pPr>
            <a:r>
              <a:rPr lang="en-US" sz="10700" b="1">
                <a:solidFill>
                  <a:srgbClr val="FBF7E3"/>
                </a:solidFill>
                <a:latin typeface="Agrandir Bold"/>
                <a:ea typeface="Agrandir Bold"/>
                <a:cs typeface="Agrandir Bold"/>
              </a:rPr>
              <a:t>Design</a:t>
            </a:r>
            <a:endParaRPr/>
          </a:p>
          <a:p>
            <a:pPr marL="0" lvl="0" indent="0" algn="l">
              <a:lnSpc>
                <a:spcPts val="9092"/>
              </a:lnSpc>
              <a:defRPr/>
            </a:pPr>
            <a:endParaRPr lang="en-US" sz="10700" b="1">
              <a:solidFill>
                <a:srgbClr val="FBF7E3"/>
              </a:solidFill>
              <a:latin typeface="Agrandir Bold"/>
              <a:ea typeface="Agrandir Bold"/>
              <a:cs typeface="Agrandir Bold"/>
            </a:endParaRPr>
          </a:p>
        </p:txBody>
      </p:sp>
      <p:sp>
        <p:nvSpPr>
          <p:cNvPr id="1531938508" name="TextBox 5"/>
          <p:cNvSpPr txBox="1"/>
          <p:nvPr/>
        </p:nvSpPr>
        <p:spPr bwMode="auto">
          <a:xfrm rot="0">
            <a:off x="12923882" y="7483483"/>
            <a:ext cx="5157497" cy="2628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49"/>
              </a:lnSpc>
              <a:defRPr/>
            </a:pPr>
            <a:r>
              <a:rPr lang="en-US" sz="3450" b="1">
                <a:solidFill>
                  <a:srgbClr val="FBF7E3"/>
                </a:solidFill>
                <a:latin typeface="Aileron Bold"/>
                <a:ea typeface="Aileron Bold"/>
                <a:cs typeface="Aileron Bold"/>
              </a:rPr>
              <a:t>GRUPPO 12:</a:t>
            </a:r>
            <a:endParaRPr/>
          </a:p>
          <a:p>
            <a:pPr algn="l">
              <a:lnSpc>
                <a:spcPts val="3127"/>
              </a:lnSpc>
              <a:defRPr/>
            </a:pPr>
            <a:r>
              <a:rPr lang="en-US" sz="3450">
                <a:solidFill>
                  <a:srgbClr val="FBF7E3"/>
                </a:solidFill>
                <a:latin typeface="Aileron"/>
                <a:ea typeface="Aileron"/>
                <a:cs typeface="Aileron"/>
              </a:rPr>
              <a:t>Simone Luongo</a:t>
            </a:r>
            <a:endParaRPr/>
          </a:p>
          <a:p>
            <a:pPr algn="l">
              <a:lnSpc>
                <a:spcPts val="3127"/>
              </a:lnSpc>
              <a:defRPr/>
            </a:pPr>
            <a:r>
              <a:rPr lang="en-US" sz="3450">
                <a:solidFill>
                  <a:srgbClr val="FBF7E3"/>
                </a:solidFill>
                <a:latin typeface="Aileron"/>
                <a:ea typeface="Aileron"/>
                <a:cs typeface="Aileron"/>
              </a:rPr>
              <a:t>Rosa Passaro</a:t>
            </a:r>
            <a:endParaRPr/>
          </a:p>
          <a:p>
            <a:pPr algn="l">
              <a:lnSpc>
                <a:spcPts val="3127"/>
              </a:lnSpc>
              <a:defRPr/>
            </a:pPr>
            <a:r>
              <a:rPr lang="en-US" sz="3450">
                <a:solidFill>
                  <a:srgbClr val="FBF7E3"/>
                </a:solidFill>
                <a:latin typeface="Aileron"/>
                <a:ea typeface="Aileron"/>
                <a:cs typeface="Aileron"/>
              </a:rPr>
              <a:t>Omar Silano</a:t>
            </a:r>
            <a:endParaRPr/>
          </a:p>
          <a:p>
            <a:pPr marL="0" lvl="0" indent="0" algn="l">
              <a:lnSpc>
                <a:spcPts val="3127"/>
              </a:lnSpc>
              <a:spcBef>
                <a:spcPts val="0"/>
              </a:spcBef>
              <a:defRPr/>
            </a:pPr>
            <a:r>
              <a:rPr lang="en-US" sz="3450">
                <a:solidFill>
                  <a:srgbClr val="FBF7E3"/>
                </a:solidFill>
                <a:latin typeface="Aileron"/>
                <a:ea typeface="Aileron"/>
                <a:cs typeface="Aileron"/>
              </a:rPr>
              <a:t>Giuseppe Daniele Robinia</a:t>
            </a:r>
            <a:endParaRPr/>
          </a:p>
        </p:txBody>
      </p:sp>
      <p:sp>
        <p:nvSpPr>
          <p:cNvPr id="781450671" name="AutoShape 6"/>
          <p:cNvSpPr/>
          <p:nvPr/>
        </p:nvSpPr>
        <p:spPr bwMode="auto">
          <a:xfrm>
            <a:off x="7790995" y="5690506"/>
            <a:ext cx="4737376" cy="0"/>
          </a:xfrm>
          <a:prstGeom prst="line">
            <a:avLst/>
          </a:prstGeom>
          <a:ln w="19050" cap="flat">
            <a:solidFill>
              <a:srgbClr val="FBF7E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2216361" name="Freeform 7"/>
          <p:cNvSpPr/>
          <p:nvPr/>
        </p:nvSpPr>
        <p:spPr bwMode="auto">
          <a:xfrm rot="0" flipH="0" flipV="0">
            <a:off x="220237" y="466801"/>
            <a:ext cx="1504762" cy="1504762"/>
          </a:xfrm>
          <a:custGeom>
            <a:avLst/>
            <a:gdLst/>
            <a:ahLst/>
            <a:cxnLst/>
            <a:rect l="l" t="t" r="r" b="b"/>
            <a:pathLst>
              <a:path w="1504762" h="1504762" fill="norm" stroke="1" extrusionOk="0">
                <a:moveTo>
                  <a:pt x="0" y="0"/>
                </a:moveTo>
                <a:lnTo>
                  <a:pt x="1504762" y="0"/>
                </a:lnTo>
                <a:lnTo>
                  <a:pt x="1504762" y="1504762"/>
                </a:lnTo>
                <a:lnTo>
                  <a:pt x="0" y="15047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sp>
        <p:nvSpPr>
          <p:cNvPr id="1084753853" name="TextBox 8"/>
          <p:cNvSpPr txBox="1"/>
          <p:nvPr/>
        </p:nvSpPr>
        <p:spPr bwMode="auto">
          <a:xfrm rot="0">
            <a:off x="1881221" y="646503"/>
            <a:ext cx="3593242" cy="1088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95"/>
              </a:lnSpc>
              <a:defRPr/>
            </a:pPr>
            <a:r>
              <a:rPr lang="en-US" sz="3150" b="1" spc="-254">
                <a:solidFill>
                  <a:srgbClr val="FBF7E3"/>
                </a:solidFill>
                <a:latin typeface="Open Sauce Bold"/>
                <a:ea typeface="Open Sauce Bold"/>
                <a:cs typeface="Open Sauce Bold"/>
              </a:rPr>
              <a:t>Università degli Studi di Salerno</a:t>
            </a:r>
            <a:endParaRPr/>
          </a:p>
        </p:txBody>
      </p:sp>
      <p:sp>
        <p:nvSpPr>
          <p:cNvPr id="103387251" name="TextBox 9"/>
          <p:cNvSpPr txBox="1"/>
          <p:nvPr/>
        </p:nvSpPr>
        <p:spPr bwMode="auto">
          <a:xfrm rot="0">
            <a:off x="11862840" y="4070294"/>
            <a:ext cx="6218540" cy="1417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9"/>
              </a:lnSpc>
              <a:defRPr/>
            </a:pPr>
            <a:r>
              <a:rPr lang="en-US" sz="5950" b="1">
                <a:solidFill>
                  <a:srgbClr val="FBF7E3"/>
                </a:solidFill>
                <a:latin typeface="Aileron Bold"/>
                <a:ea typeface="Aileron Bold"/>
                <a:cs typeface="Aileron Bold"/>
              </a:rPr>
              <a:t>Music Playlist</a:t>
            </a:r>
            <a:endParaRPr/>
          </a:p>
          <a:p>
            <a:pPr marL="0" lvl="0" indent="0" algn="l">
              <a:lnSpc>
                <a:spcPts val="5349"/>
              </a:lnSpc>
              <a:spcBef>
                <a:spcPts val="0"/>
              </a:spcBef>
              <a:defRPr/>
            </a:pPr>
            <a:r>
              <a:rPr lang="en-US" sz="5950" b="1">
                <a:solidFill>
                  <a:srgbClr val="FBF7E3"/>
                </a:solidFill>
                <a:latin typeface="Aileron Bold"/>
                <a:ea typeface="Aileron Bold"/>
                <a:cs typeface="Aileron Bold"/>
              </a:rPr>
              <a:t>Manager</a:t>
            </a:r>
            <a:endParaRPr/>
          </a:p>
        </p:txBody>
      </p:sp>
      <p:sp>
        <p:nvSpPr>
          <p:cNvPr id="794836399" name="TextBox 10"/>
          <p:cNvSpPr txBox="1"/>
          <p:nvPr/>
        </p:nvSpPr>
        <p:spPr bwMode="auto">
          <a:xfrm rot="0">
            <a:off x="12684919" y="5420710"/>
            <a:ext cx="4574381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defRPr/>
            </a:pPr>
            <a:r>
              <a:rPr lang="en-US" sz="3400" i="1">
                <a:solidFill>
                  <a:srgbClr val="FBF7E3"/>
                </a:solidFill>
                <a:latin typeface="Open Sans Italics"/>
                <a:ea typeface="Open Sans Italics"/>
                <a:cs typeface="Open Sans Italics"/>
              </a:rPr>
              <a:t>SCRUM PRE-GAME AND </a:t>
            </a:r>
            <a:endParaRPr/>
          </a:p>
          <a:p>
            <a:pPr algn="ctr">
              <a:lnSpc>
                <a:spcPts val="4759"/>
              </a:lnSpc>
              <a:defRPr/>
            </a:pPr>
            <a:r>
              <a:rPr lang="en-US" sz="3400" i="1">
                <a:solidFill>
                  <a:srgbClr val="FBF7E3"/>
                </a:solidFill>
                <a:latin typeface="Open Sans Italics"/>
                <a:ea typeface="Open Sans Italics"/>
                <a:cs typeface="Open Sans Italics"/>
              </a:rPr>
              <a:t>FIRST SPRINT PLANNING</a:t>
            </a:r>
            <a:endParaRPr/>
          </a:p>
        </p:txBody>
      </p:sp>
      <p:sp>
        <p:nvSpPr>
          <p:cNvPr id="794328451" name="Freeform 11"/>
          <p:cNvSpPr/>
          <p:nvPr/>
        </p:nvSpPr>
        <p:spPr bwMode="auto">
          <a:xfrm rot="2172845" flipH="0" flipV="0">
            <a:off x="-3468024" y="7536596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 fill="norm" stroke="1" extrusionOk="0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5000"/>
            </a:blip>
            <a:stretch>
              <a:fillRect l="0" t="0" r="0" b="0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7A8B9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9719784" name="Shape 0"/>
          <p:cNvSpPr/>
          <p:nvPr/>
        </p:nvSpPr>
        <p:spPr bwMode="auto">
          <a:xfrm flipH="0" flipV="0">
            <a:off x="0" y="0"/>
            <a:ext cx="18426857" cy="1741714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64271180" name="Text 1"/>
          <p:cNvSpPr/>
          <p:nvPr/>
        </p:nvSpPr>
        <p:spPr bwMode="auto">
          <a:xfrm flipH="0" flipV="0">
            <a:off x="457199" y="259079"/>
            <a:ext cx="1217301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48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PLANNING &amp; STACK TECNOLOGICO</a:t>
            </a:r>
            <a:endParaRPr sz="4800"/>
          </a:p>
        </p:txBody>
      </p:sp>
      <p:sp>
        <p:nvSpPr>
          <p:cNvPr id="1914219313" name="Shape 2"/>
          <p:cNvSpPr/>
          <p:nvPr/>
        </p:nvSpPr>
        <p:spPr bwMode="auto">
          <a:xfrm flipH="0" flipV="0">
            <a:off x="0" y="1741714"/>
            <a:ext cx="18290785" cy="10885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/>
            </a:solidFill>
            <a:prstDash val="solid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471170703" name="Shape 12"/>
          <p:cNvSpPr/>
          <p:nvPr/>
        </p:nvSpPr>
        <p:spPr bwMode="auto">
          <a:xfrm flipH="0" flipV="0">
            <a:off x="106381" y="6931837"/>
            <a:ext cx="8591084" cy="17770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  <p:txBody>
          <a:bodyPr anchor="ctr"/>
          <a:p>
            <a:pPr algn="ctr">
              <a:defRPr/>
            </a:pPr>
            <a:endParaRPr sz="2600"/>
          </a:p>
        </p:txBody>
      </p:sp>
      <p:sp>
        <p:nvSpPr>
          <p:cNvPr id="878418267" name="Shape 13"/>
          <p:cNvSpPr/>
          <p:nvPr/>
        </p:nvSpPr>
        <p:spPr bwMode="auto">
          <a:xfrm flipH="0" flipV="0">
            <a:off x="106381" y="6931837"/>
            <a:ext cx="169765" cy="177709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600"/>
          </a:p>
        </p:txBody>
      </p:sp>
      <p:sp>
        <p:nvSpPr>
          <p:cNvPr id="838736445" name="Text 14"/>
          <p:cNvSpPr/>
          <p:nvPr/>
        </p:nvSpPr>
        <p:spPr bwMode="auto">
          <a:xfrm flipH="0" flipV="0">
            <a:off x="815547" y="7198122"/>
            <a:ext cx="4473330" cy="6634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/>
            </a:pPr>
            <a:r>
              <a:rPr lang="en-US" sz="2600" b="1" i="0" u="none" strike="noStrike" cap="none" spc="0">
                <a:solidFill>
                  <a:srgbClr val="1A1A2E"/>
                </a:solidFill>
                <a:latin typeface="Trebuchet MS"/>
                <a:ea typeface="Trebuchet MS"/>
                <a:cs typeface="Trebuchet MS"/>
              </a:rPr>
              <a:t>JUnit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/>
          </a:p>
        </p:txBody>
      </p:sp>
      <p:sp>
        <p:nvSpPr>
          <p:cNvPr id="687619044" name="Text 15"/>
          <p:cNvSpPr/>
          <p:nvPr/>
        </p:nvSpPr>
        <p:spPr bwMode="auto">
          <a:xfrm flipH="0" flipV="0">
            <a:off x="758397" y="7861570"/>
            <a:ext cx="7571958" cy="7582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/>
            </a:pPr>
            <a:r>
              <a:rPr lang="en-US" sz="2600" b="0" i="0" u="none" strike="noStrike" cap="none" spc="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Unit testing automatizzato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/>
          </a:p>
        </p:txBody>
      </p:sp>
      <p:sp>
        <p:nvSpPr>
          <p:cNvPr id="15672937" name="Shape 25"/>
          <p:cNvSpPr/>
          <p:nvPr/>
        </p:nvSpPr>
        <p:spPr bwMode="auto">
          <a:xfrm flipH="0" flipV="0">
            <a:off x="9482835" y="7002723"/>
            <a:ext cx="8508592" cy="2576704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2102419555" name="Text 26"/>
          <p:cNvSpPr/>
          <p:nvPr/>
        </p:nvSpPr>
        <p:spPr bwMode="auto">
          <a:xfrm flipH="0" flipV="0">
            <a:off x="9482835" y="7002723"/>
            <a:ext cx="7717095" cy="5636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7A8B9B"/>
                </a:solidFill>
                <a:latin typeface="Trebuchet MS"/>
                <a:ea typeface="Trebuchet MS"/>
                <a:cs typeface="Trebuchet MS"/>
              </a:rPr>
              <a:t>Convenzioni</a:t>
            </a:r>
            <a:endParaRPr sz="2400">
              <a:solidFill>
                <a:srgbClr val="7A8B9B"/>
              </a:solidFill>
            </a:endParaRPr>
          </a:p>
        </p:txBody>
      </p:sp>
      <p:sp>
        <p:nvSpPr>
          <p:cNvPr id="804962211" name="Text 27"/>
          <p:cNvSpPr/>
          <p:nvPr/>
        </p:nvSpPr>
        <p:spPr bwMode="auto">
          <a:xfrm flipH="0" flipV="0">
            <a:off x="9574275" y="7502635"/>
            <a:ext cx="7717095" cy="418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›  CamelCase – nomenclatura codice</a:t>
            </a:r>
            <a:endParaRPr sz="2400"/>
          </a:p>
        </p:txBody>
      </p:sp>
      <p:sp>
        <p:nvSpPr>
          <p:cNvPr id="938251026" name="Text 28"/>
          <p:cNvSpPr/>
          <p:nvPr/>
        </p:nvSpPr>
        <p:spPr bwMode="auto">
          <a:xfrm flipH="0" flipV="0">
            <a:off x="9558506" y="7878178"/>
            <a:ext cx="7717095" cy="418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›  Lingua inglese – codice </a:t>
            </a:r>
            <a:endParaRPr sz="2400"/>
          </a:p>
        </p:txBody>
      </p:sp>
      <p:sp>
        <p:nvSpPr>
          <p:cNvPr id="400210410" name="Text 29"/>
          <p:cNvSpPr/>
          <p:nvPr/>
        </p:nvSpPr>
        <p:spPr bwMode="auto">
          <a:xfrm flipH="0" flipV="0">
            <a:off x="9574275" y="8686451"/>
            <a:ext cx="7717095" cy="418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›  Fibonacci (1,2,3,5,8) – Story Points</a:t>
            </a:r>
            <a:endParaRPr sz="2400"/>
          </a:p>
        </p:txBody>
      </p:sp>
      <p:sp>
        <p:nvSpPr>
          <p:cNvPr id="1223912105" name="Text 30"/>
          <p:cNvSpPr/>
          <p:nvPr/>
        </p:nvSpPr>
        <p:spPr bwMode="auto">
          <a:xfrm flipH="0" flipV="0">
            <a:off x="9574275" y="9105165"/>
            <a:ext cx="7717095" cy="418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›  3 livelli di priorità: Alta / Media / Bassa</a:t>
            </a:r>
            <a:endParaRPr sz="2400"/>
          </a:p>
        </p:txBody>
      </p:sp>
      <p:sp>
        <p:nvSpPr>
          <p:cNvPr id="1755898167" name="Shape 12"/>
          <p:cNvSpPr/>
          <p:nvPr/>
        </p:nvSpPr>
        <p:spPr bwMode="auto">
          <a:xfrm flipH="0" flipV="0">
            <a:off x="91762" y="4849310"/>
            <a:ext cx="8605703" cy="1777091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  <p:txBody>
          <a:bodyPr anchor="ctr"/>
          <a:p>
            <a:pPr algn="ctr">
              <a:defRPr/>
            </a:pPr>
            <a:endParaRPr sz="2600"/>
          </a:p>
        </p:txBody>
      </p:sp>
      <p:sp>
        <p:nvSpPr>
          <p:cNvPr id="295125120" name="Shape 13"/>
          <p:cNvSpPr/>
          <p:nvPr/>
        </p:nvSpPr>
        <p:spPr bwMode="auto">
          <a:xfrm flipH="0" flipV="0">
            <a:off x="91762" y="4849310"/>
            <a:ext cx="169765" cy="1777091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600"/>
          </a:p>
        </p:txBody>
      </p:sp>
      <p:sp>
        <p:nvSpPr>
          <p:cNvPr id="241986090" name="Text 14"/>
          <p:cNvSpPr/>
          <p:nvPr/>
        </p:nvSpPr>
        <p:spPr bwMode="auto">
          <a:xfrm flipH="0" flipV="0">
            <a:off x="800928" y="5115595"/>
            <a:ext cx="4644713" cy="6634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1" i="0" u="none" strike="noStrike" cap="none" spc="0">
                <a:solidFill>
                  <a:srgbClr val="1A1A2E"/>
                </a:solidFill>
                <a:latin typeface="Trebuchet MS"/>
                <a:ea typeface="Trebuchet MS"/>
                <a:cs typeface="Trebuchet MS"/>
              </a:rPr>
              <a:t>JavaFX 21.0.1</a:t>
            </a:r>
            <a:endParaRPr sz="2600"/>
          </a:p>
          <a:p>
            <a:pPr>
              <a:defRPr/>
            </a:pPr>
            <a:endParaRPr/>
          </a:p>
        </p:txBody>
      </p:sp>
      <p:sp>
        <p:nvSpPr>
          <p:cNvPr id="776550875" name="Text 15"/>
          <p:cNvSpPr/>
          <p:nvPr/>
        </p:nvSpPr>
        <p:spPr bwMode="auto">
          <a:xfrm flipH="0" flipV="0">
            <a:off x="743778" y="5779044"/>
            <a:ext cx="7123935" cy="758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0" i="0" u="none" strike="noStrike" cap="none" spc="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GUI framework per il livello View (FXML)</a:t>
            </a:r>
            <a:endParaRPr sz="2600"/>
          </a:p>
          <a:p>
            <a:pPr>
              <a:defRPr/>
            </a:pPr>
            <a:endParaRPr/>
          </a:p>
        </p:txBody>
      </p:sp>
      <p:sp>
        <p:nvSpPr>
          <p:cNvPr id="770215571" name="Shape 12"/>
          <p:cNvSpPr/>
          <p:nvPr/>
        </p:nvSpPr>
        <p:spPr bwMode="auto">
          <a:xfrm flipH="0" flipV="0">
            <a:off x="123349" y="2607486"/>
            <a:ext cx="8574116" cy="1777091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  <p:txBody>
          <a:bodyPr anchor="ctr"/>
          <a:p>
            <a:pPr algn="ctr">
              <a:defRPr/>
            </a:pPr>
            <a:endParaRPr sz="2600"/>
          </a:p>
        </p:txBody>
      </p:sp>
      <p:sp>
        <p:nvSpPr>
          <p:cNvPr id="1612245484" name="Shape 13"/>
          <p:cNvSpPr/>
          <p:nvPr/>
        </p:nvSpPr>
        <p:spPr bwMode="auto">
          <a:xfrm flipH="0" flipV="0">
            <a:off x="123349" y="2607486"/>
            <a:ext cx="169765" cy="1777091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600"/>
          </a:p>
        </p:txBody>
      </p:sp>
      <p:sp>
        <p:nvSpPr>
          <p:cNvPr id="287323977" name="Text 14"/>
          <p:cNvSpPr/>
          <p:nvPr/>
        </p:nvSpPr>
        <p:spPr bwMode="auto">
          <a:xfrm flipH="0" flipV="0">
            <a:off x="832516" y="2873772"/>
            <a:ext cx="8912723" cy="6634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/>
            </a:pPr>
            <a:r>
              <a:rPr lang="en-US" sz="2600" b="1" i="0" u="none" strike="noStrike" cap="none" spc="0">
                <a:solidFill>
                  <a:srgbClr val="1A1A2E"/>
                </a:solidFill>
                <a:latin typeface="Trebuchet MS"/>
                <a:ea typeface="Trebuchet MS"/>
                <a:cs typeface="Trebuchet MS"/>
              </a:rPr>
              <a:t>Java JDK 21</a:t>
            </a:r>
            <a:endParaRPr/>
          </a:p>
        </p:txBody>
      </p:sp>
      <p:sp>
        <p:nvSpPr>
          <p:cNvPr id="1455325126" name="Text 15"/>
          <p:cNvSpPr/>
          <p:nvPr/>
        </p:nvSpPr>
        <p:spPr bwMode="auto">
          <a:xfrm flipH="0" flipV="0">
            <a:off x="775366" y="3537219"/>
            <a:ext cx="8912723" cy="758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0" i="0" u="none" strike="noStrike" cap="none" spc="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Linguaggio OOP – core dell'applicazione</a:t>
            </a:r>
            <a:endParaRPr sz="2600"/>
          </a:p>
          <a:p>
            <a:pPr>
              <a:defRPr/>
            </a:pPr>
            <a:endParaRPr/>
          </a:p>
        </p:txBody>
      </p:sp>
      <p:sp>
        <p:nvSpPr>
          <p:cNvPr id="429567672" name="Shape 12"/>
          <p:cNvSpPr/>
          <p:nvPr/>
        </p:nvSpPr>
        <p:spPr bwMode="auto">
          <a:xfrm flipH="0" flipV="0">
            <a:off x="9558506" y="2607487"/>
            <a:ext cx="8432921" cy="1777091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  <p:txBody>
          <a:bodyPr anchor="ctr"/>
          <a:p>
            <a:pPr algn="ctr">
              <a:defRPr/>
            </a:pPr>
            <a:endParaRPr sz="2600"/>
          </a:p>
        </p:txBody>
      </p:sp>
      <p:sp>
        <p:nvSpPr>
          <p:cNvPr id="696220182" name="Shape 13"/>
          <p:cNvSpPr/>
          <p:nvPr/>
        </p:nvSpPr>
        <p:spPr bwMode="auto">
          <a:xfrm flipH="0" flipV="0">
            <a:off x="9558506" y="2607486"/>
            <a:ext cx="169765" cy="1777091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600"/>
          </a:p>
        </p:txBody>
      </p:sp>
      <p:sp>
        <p:nvSpPr>
          <p:cNvPr id="1125657875" name="Text 14"/>
          <p:cNvSpPr/>
          <p:nvPr/>
        </p:nvSpPr>
        <p:spPr bwMode="auto">
          <a:xfrm flipH="0" flipV="0">
            <a:off x="9798536" y="2889754"/>
            <a:ext cx="4736677" cy="6634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1" i="0" u="none" strike="noStrike" cap="none" spc="0">
                <a:solidFill>
                  <a:srgbClr val="1A1A2E"/>
                </a:solidFill>
                <a:latin typeface="Trebuchet MS"/>
                <a:ea typeface="Trebuchet MS"/>
                <a:cs typeface="Trebuchet MS"/>
              </a:rPr>
              <a:t>GitHub</a:t>
            </a:r>
            <a:endParaRPr sz="2600"/>
          </a:p>
        </p:txBody>
      </p:sp>
      <p:sp>
        <p:nvSpPr>
          <p:cNvPr id="298694976" name="Text 15"/>
          <p:cNvSpPr/>
          <p:nvPr/>
        </p:nvSpPr>
        <p:spPr bwMode="auto">
          <a:xfrm flipH="0" flipV="0">
            <a:off x="9741386" y="3553201"/>
            <a:ext cx="5909613" cy="758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0" i="0" u="none" strike="noStrike" cap="none" spc="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Versionamento codice e documentazione</a:t>
            </a:r>
            <a:endParaRPr sz="2600"/>
          </a:p>
        </p:txBody>
      </p:sp>
      <p:sp>
        <p:nvSpPr>
          <p:cNvPr id="467486597" name="Shape 12"/>
          <p:cNvSpPr/>
          <p:nvPr/>
        </p:nvSpPr>
        <p:spPr bwMode="auto">
          <a:xfrm flipH="0" flipV="0">
            <a:off x="9473623" y="4890497"/>
            <a:ext cx="8517804" cy="1777091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  <p:txBody>
          <a:bodyPr anchor="ctr"/>
          <a:p>
            <a:pPr algn="ctr">
              <a:defRPr/>
            </a:pPr>
            <a:endParaRPr sz="2600"/>
          </a:p>
        </p:txBody>
      </p:sp>
      <p:sp>
        <p:nvSpPr>
          <p:cNvPr id="299360093" name="Shape 13"/>
          <p:cNvSpPr/>
          <p:nvPr/>
        </p:nvSpPr>
        <p:spPr bwMode="auto">
          <a:xfrm flipH="0" flipV="0">
            <a:off x="9473623" y="4890496"/>
            <a:ext cx="169765" cy="1777091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600"/>
          </a:p>
        </p:txBody>
      </p:sp>
      <p:sp>
        <p:nvSpPr>
          <p:cNvPr id="80799328" name="Text 14"/>
          <p:cNvSpPr/>
          <p:nvPr/>
        </p:nvSpPr>
        <p:spPr bwMode="auto">
          <a:xfrm flipH="0" flipV="0">
            <a:off x="9713653" y="5172764"/>
            <a:ext cx="6617703" cy="6634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1" i="0" u="none" strike="noStrike" cap="none" spc="0">
                <a:solidFill>
                  <a:srgbClr val="1A1A2E"/>
                </a:solidFill>
                <a:latin typeface="Trebuchet MS"/>
                <a:ea typeface="Trebuchet MS"/>
                <a:cs typeface="Trebuchet MS"/>
              </a:rPr>
              <a:t>Trello</a:t>
            </a:r>
            <a:endParaRPr sz="2600"/>
          </a:p>
          <a:p>
            <a:pPr>
              <a:defRPr/>
            </a:pPr>
            <a:endParaRPr/>
          </a:p>
        </p:txBody>
      </p:sp>
      <p:sp>
        <p:nvSpPr>
          <p:cNvPr id="1267593906" name="Text 15"/>
          <p:cNvSpPr/>
          <p:nvPr/>
        </p:nvSpPr>
        <p:spPr bwMode="auto">
          <a:xfrm flipH="0" flipV="0">
            <a:off x="9656503" y="5836212"/>
            <a:ext cx="7634867" cy="758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0" i="0" u="none" strike="noStrike" cap="none" spc="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Gestione backlog e monitoraggio avanzamento</a:t>
            </a:r>
            <a:endParaRPr sz="2600"/>
          </a:p>
          <a:p>
            <a:pPr>
              <a:defRPr/>
            </a:pPr>
            <a:endParaRPr/>
          </a:p>
        </p:txBody>
      </p:sp>
      <p:sp>
        <p:nvSpPr>
          <p:cNvPr id="2004154387" name="Text 28"/>
          <p:cNvSpPr/>
          <p:nvPr/>
        </p:nvSpPr>
        <p:spPr bwMode="auto">
          <a:xfrm flipH="0" flipV="0">
            <a:off x="9558506" y="8240683"/>
            <a:ext cx="7717095" cy="4187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›  Lingua </a:t>
            </a:r>
            <a:r>
              <a:rPr lang="it-IT" sz="240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italiana</a:t>
            </a:r>
            <a:r>
              <a:rPr lang="en-US" sz="240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– </a:t>
            </a:r>
            <a:r>
              <a:rPr lang="it-IT" sz="240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comenti </a:t>
            </a:r>
            <a:r>
              <a:rPr lang="en-US" sz="240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e documentazione</a:t>
            </a:r>
            <a:r>
              <a:rPr lang="it-IT" sz="240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 Javadoc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7A8B9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8393113" name="Freeform 2"/>
          <p:cNvSpPr/>
          <p:nvPr/>
        </p:nvSpPr>
        <p:spPr bwMode="auto">
          <a:xfrm rot="0" flipH="0" flipV="0">
            <a:off x="0" y="3108362"/>
            <a:ext cx="18288000" cy="6720840"/>
          </a:xfrm>
          <a:custGeom>
            <a:avLst/>
            <a:gdLst/>
            <a:ahLst/>
            <a:cxnLst/>
            <a:rect l="l" t="t" r="r" b="b"/>
            <a:pathLst>
              <a:path w="18288000" h="672084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6720840"/>
                </a:lnTo>
                <a:lnTo>
                  <a:pt x="0" y="67208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sp>
        <p:nvSpPr>
          <p:cNvPr id="123725156" name="Freeform 4"/>
          <p:cNvSpPr/>
          <p:nvPr/>
        </p:nvSpPr>
        <p:spPr bwMode="auto">
          <a:xfrm rot="2172845" flipH="0" flipV="0">
            <a:off x="10516724" y="-2941045"/>
            <a:ext cx="16257321" cy="8187778"/>
          </a:xfrm>
          <a:custGeom>
            <a:avLst/>
            <a:gdLst/>
            <a:ahLst/>
            <a:cxnLst/>
            <a:rect l="l" t="t" r="r" b="b"/>
            <a:pathLst>
              <a:path w="16257321" h="8187778" fill="norm" stroke="1" extrusionOk="0">
                <a:moveTo>
                  <a:pt x="0" y="0"/>
                </a:moveTo>
                <a:lnTo>
                  <a:pt x="16257321" y="0"/>
                </a:lnTo>
                <a:lnTo>
                  <a:pt x="16257321" y="8187778"/>
                </a:lnTo>
                <a:lnTo>
                  <a:pt x="0" y="81877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5000"/>
            </a:blip>
            <a:stretch>
              <a:fillRect l="0" t="0" r="0" b="0"/>
            </a:stretch>
          </a:blipFill>
        </p:spPr>
      </p:sp>
      <p:sp>
        <p:nvSpPr>
          <p:cNvPr id="1047050316" name="Shape 0"/>
          <p:cNvSpPr/>
          <p:nvPr/>
        </p:nvSpPr>
        <p:spPr bwMode="auto">
          <a:xfrm flipH="0" flipV="0">
            <a:off x="0" y="0"/>
            <a:ext cx="18426856" cy="1741713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394500819" name="Shape 2"/>
          <p:cNvSpPr/>
          <p:nvPr/>
        </p:nvSpPr>
        <p:spPr bwMode="auto">
          <a:xfrm flipH="0" flipV="0">
            <a:off x="0" y="1741713"/>
            <a:ext cx="18290784" cy="10885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/>
            </a:solidFill>
            <a:prstDash val="solid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396609632" name=""/>
          <p:cNvSpPr txBox="1"/>
          <p:nvPr/>
        </p:nvSpPr>
        <p:spPr bwMode="auto">
          <a:xfrm rot="0" flipH="0" flipV="0">
            <a:off x="656751" y="400430"/>
            <a:ext cx="6980432" cy="82847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 sz="4800" b="1" i="0" u="none" strike="noStrike" cap="none" spc="0">
                <a:solidFill>
                  <a:schemeClr val="bg1"/>
                </a:solidFill>
                <a:latin typeface="Trebuchet MS"/>
                <a:ea typeface="Trebuchet MS"/>
                <a:cs typeface="Trebuchet MS"/>
              </a:rPr>
              <a:t>ARCHITETTURA</a:t>
            </a:r>
            <a:r>
              <a:rPr lang="en-US" sz="4800" b="1" i="0" u="none" strike="noStrike" cap="none" spc="0">
                <a:solidFill>
                  <a:schemeClr val="bg1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lang="en-US" sz="4800" b="1" i="0" u="none" strike="noStrike" cap="none" spc="0">
                <a:solidFill>
                  <a:schemeClr val="bg1"/>
                </a:solidFill>
                <a:latin typeface="Agrandir Bold"/>
                <a:ea typeface="Agrandir Bold"/>
                <a:cs typeface="Agrandir Bold"/>
              </a:rPr>
              <a:t>MVC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7A8B9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1938054" name="Freeform 2"/>
          <p:cNvSpPr/>
          <p:nvPr/>
        </p:nvSpPr>
        <p:spPr bwMode="auto">
          <a:xfrm rot="2172845" flipH="0" flipV="0">
            <a:off x="6368285" y="-727739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 fill="norm" stroke="1" extrusionOk="0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5000"/>
            </a:blip>
            <a:stretch>
              <a:fillRect l="0" t="0" r="0" b="0"/>
            </a:stretch>
          </a:blipFill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807593884" name="Freeform 3"/>
          <p:cNvSpPr/>
          <p:nvPr/>
        </p:nvSpPr>
        <p:spPr bwMode="auto">
          <a:xfrm rot="2172845" flipH="0" flipV="0">
            <a:off x="-3843661" y="7384212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 fill="norm" stroke="1" extrusionOk="0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5000"/>
            </a:blip>
            <a:stretch>
              <a:fillRect l="0" t="0" r="0" b="0"/>
            </a:stretch>
          </a:blipFill>
        </p:spPr>
      </p:sp>
      <p:sp>
        <p:nvSpPr>
          <p:cNvPr id="259753674" name="Freeform 4"/>
          <p:cNvSpPr/>
          <p:nvPr/>
        </p:nvSpPr>
        <p:spPr bwMode="auto">
          <a:xfrm rot="0" flipH="0" flipV="0">
            <a:off x="10788529" y="2353235"/>
            <a:ext cx="7077233" cy="3888771"/>
          </a:xfrm>
          <a:custGeom>
            <a:avLst/>
            <a:gdLst/>
            <a:ahLst/>
            <a:cxnLst/>
            <a:rect l="l" t="t" r="r" b="b"/>
            <a:pathLst>
              <a:path w="8708590" h="4602379" fill="norm" stroke="1" extrusionOk="0">
                <a:moveTo>
                  <a:pt x="0" y="0"/>
                </a:moveTo>
                <a:lnTo>
                  <a:pt x="8708590" y="0"/>
                </a:lnTo>
                <a:lnTo>
                  <a:pt x="8708590" y="4602378"/>
                </a:lnTo>
                <a:lnTo>
                  <a:pt x="0" y="46023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686841547" name="Freeform 5"/>
          <p:cNvSpPr/>
          <p:nvPr/>
        </p:nvSpPr>
        <p:spPr bwMode="auto">
          <a:xfrm rot="0" flipH="0" flipV="0">
            <a:off x="753551" y="2353235"/>
            <a:ext cx="7093433" cy="3888771"/>
          </a:xfrm>
          <a:custGeom>
            <a:avLst/>
            <a:gdLst/>
            <a:ahLst/>
            <a:cxnLst/>
            <a:rect l="l" t="t" r="r" b="b"/>
            <a:pathLst>
              <a:path w="7975600" h="4415358" fill="norm" stroke="1" extrusionOk="0">
                <a:moveTo>
                  <a:pt x="0" y="0"/>
                </a:moveTo>
                <a:lnTo>
                  <a:pt x="7975600" y="0"/>
                </a:lnTo>
                <a:lnTo>
                  <a:pt x="7975600" y="4415357"/>
                </a:lnTo>
                <a:lnTo>
                  <a:pt x="0" y="44153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sp>
        <p:nvSpPr>
          <p:cNvPr id="1326727765" name="Shape 0"/>
          <p:cNvSpPr/>
          <p:nvPr/>
        </p:nvSpPr>
        <p:spPr bwMode="auto">
          <a:xfrm flipH="0" flipV="0">
            <a:off x="0" y="0"/>
            <a:ext cx="18426856" cy="1741713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391963381" name="Shape 2"/>
          <p:cNvSpPr/>
          <p:nvPr/>
        </p:nvSpPr>
        <p:spPr bwMode="auto">
          <a:xfrm flipH="0" flipV="0">
            <a:off x="0" y="1741713"/>
            <a:ext cx="18290784" cy="10885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/>
            </a:solidFill>
            <a:prstDash val="solid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814538280" name=""/>
          <p:cNvSpPr txBox="1"/>
          <p:nvPr/>
        </p:nvSpPr>
        <p:spPr bwMode="auto">
          <a:xfrm rot="0" flipH="0" flipV="0">
            <a:off x="753551" y="-62211"/>
            <a:ext cx="6973953" cy="121435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ts val="8838"/>
              </a:lnSpc>
              <a:defRPr/>
            </a:pPr>
            <a:r>
              <a:rPr lang="it-IT" sz="4800" b="1">
                <a:solidFill>
                  <a:schemeClr val="bg1"/>
                </a:solidFill>
                <a:latin typeface="Trebuchet MS"/>
                <a:ea typeface="Trebuchet MS"/>
                <a:cs typeface="Trebuchet MS"/>
              </a:rPr>
              <a:t>USER INTERFACE</a:t>
            </a:r>
            <a:endParaRPr sz="480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pic>
        <p:nvPicPr>
          <p:cNvPr id="705943338" name="Image 2" descr="preencoded.png"/>
          <p:cNvPicPr>
            <a:picLocks noChangeAspect="1"/>
          </p:cNvPicPr>
          <p:nvPr/>
        </p:nvPicPr>
        <p:blipFill rotWithShape="1">
          <a:blip r:embed="rId6"/>
          <a:srcRect l="2600" t="18049" r="5657" b="31889"/>
          <a:stretch/>
        </p:blipFill>
        <p:spPr bwMode="auto">
          <a:xfrm flipH="0" flipV="0">
            <a:off x="5602311" y="6420970"/>
            <a:ext cx="7509109" cy="32497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7A8B9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5217380" name="Freeform 2"/>
          <p:cNvSpPr/>
          <p:nvPr/>
        </p:nvSpPr>
        <p:spPr bwMode="auto">
          <a:xfrm rot="2172845" flipH="0" flipV="0">
            <a:off x="5896071" y="-6469953"/>
            <a:ext cx="14678667" cy="7392710"/>
          </a:xfrm>
          <a:custGeom>
            <a:avLst/>
            <a:gdLst/>
            <a:ahLst/>
            <a:cxnLst/>
            <a:rect l="l" t="t" r="r" b="b"/>
            <a:pathLst>
              <a:path w="14678668" h="7392711" fill="norm" stroke="1" extrusionOk="0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5000"/>
            </a:blip>
            <a:stretch>
              <a:fillRect l="0" t="0" r="0" b="0"/>
            </a:stretch>
          </a:blipFill>
        </p:spPr>
      </p:sp>
      <p:sp>
        <p:nvSpPr>
          <p:cNvPr id="96914060" name="Freeform 3"/>
          <p:cNvSpPr/>
          <p:nvPr/>
        </p:nvSpPr>
        <p:spPr bwMode="auto">
          <a:xfrm rot="2172845" flipH="0" flipV="0">
            <a:off x="-4095528" y="7864463"/>
            <a:ext cx="14678667" cy="7392710"/>
          </a:xfrm>
          <a:custGeom>
            <a:avLst/>
            <a:gdLst/>
            <a:ahLst/>
            <a:cxnLst/>
            <a:rect l="l" t="t" r="r" b="b"/>
            <a:pathLst>
              <a:path w="14678668" h="7392711" fill="norm" stroke="1" extrusionOk="0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5000"/>
            </a:blip>
            <a:stretch>
              <a:fillRect l="0" t="0" r="0" b="0"/>
            </a:stretch>
          </a:blipFill>
        </p:spPr>
      </p:sp>
      <p:sp>
        <p:nvSpPr>
          <p:cNvPr id="986241917" name="Shape 0"/>
          <p:cNvSpPr/>
          <p:nvPr/>
        </p:nvSpPr>
        <p:spPr bwMode="auto">
          <a:xfrm flipH="0" flipV="0">
            <a:off x="0" y="0"/>
            <a:ext cx="18426856" cy="1741713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447333201" name="Shape 2"/>
          <p:cNvSpPr/>
          <p:nvPr/>
        </p:nvSpPr>
        <p:spPr bwMode="auto">
          <a:xfrm flipH="0" flipV="0">
            <a:off x="0" y="1741713"/>
            <a:ext cx="18290784" cy="10885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/>
            </a:solidFill>
            <a:prstDash val="solid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990497611" name=""/>
          <p:cNvSpPr txBox="1"/>
          <p:nvPr/>
        </p:nvSpPr>
        <p:spPr bwMode="auto">
          <a:xfrm rot="0" flipH="0" flipV="0">
            <a:off x="753550" y="-62210"/>
            <a:ext cx="6979712" cy="121435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ts val="8838"/>
              </a:lnSpc>
              <a:defRPr/>
            </a:pPr>
            <a:r>
              <a:rPr lang="it-IT" sz="4800" b="1">
                <a:solidFill>
                  <a:schemeClr val="bg1"/>
                </a:solidFill>
                <a:latin typeface="Trebuchet MS"/>
                <a:ea typeface="Trebuchet MS"/>
                <a:cs typeface="Trebuchet MS"/>
              </a:rPr>
              <a:t>PRODUCT BACKLOG</a:t>
            </a:r>
            <a:endParaRPr sz="480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sp>
        <p:nvSpPr>
          <p:cNvPr id="428405703" name="Shape 3"/>
          <p:cNvSpPr/>
          <p:nvPr/>
        </p:nvSpPr>
        <p:spPr bwMode="auto">
          <a:xfrm flipH="0" flipV="0">
            <a:off x="2925740" y="2330281"/>
            <a:ext cx="2852537" cy="2545351"/>
          </a:xfrm>
          <a:prstGeom prst="rect">
            <a:avLst/>
          </a:prstGeom>
          <a:solidFill>
            <a:srgbClr val="2D6A4F"/>
          </a:solidFill>
          <a:ln w="25400">
            <a:solidFill>
              <a:srgbClr val="52B788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075245992" name="Text 4"/>
          <p:cNvSpPr/>
          <p:nvPr/>
        </p:nvSpPr>
        <p:spPr bwMode="auto">
          <a:xfrm flipH="0" flipV="0">
            <a:off x="2925740" y="2421721"/>
            <a:ext cx="2852537" cy="14544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4200" b="1">
                <a:solidFill>
                  <a:srgbClr val="52B788"/>
                </a:solidFill>
                <a:latin typeface="Trebuchet MS"/>
                <a:ea typeface="Trebuchet MS"/>
                <a:cs typeface="Trebuchet MS"/>
              </a:rPr>
              <a:t>28</a:t>
            </a:r>
            <a:endParaRPr lang="en-US" sz="4200"/>
          </a:p>
        </p:txBody>
      </p:sp>
      <p:sp>
        <p:nvSpPr>
          <p:cNvPr id="417710595" name="Text 5"/>
          <p:cNvSpPr/>
          <p:nvPr/>
        </p:nvSpPr>
        <p:spPr bwMode="auto">
          <a:xfrm flipH="0" flipV="0">
            <a:off x="2925740" y="3153241"/>
            <a:ext cx="2852537" cy="727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00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User Stories</a:t>
            </a:r>
            <a:endParaRPr sz="2000"/>
          </a:p>
        </p:txBody>
      </p:sp>
      <p:sp>
        <p:nvSpPr>
          <p:cNvPr id="1889728818" name="Shape 6"/>
          <p:cNvSpPr/>
          <p:nvPr/>
        </p:nvSpPr>
        <p:spPr bwMode="auto">
          <a:xfrm flipH="0" flipV="0">
            <a:off x="6164240" y="2330281"/>
            <a:ext cx="2700441" cy="2545351"/>
          </a:xfrm>
          <a:prstGeom prst="rect">
            <a:avLst/>
          </a:prstGeom>
          <a:solidFill>
            <a:srgbClr val="1A1C5A"/>
          </a:solidFill>
          <a:ln w="25400">
            <a:solidFill>
              <a:srgbClr val="4C8BF5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695885233" name="Text 7"/>
          <p:cNvSpPr/>
          <p:nvPr/>
        </p:nvSpPr>
        <p:spPr bwMode="auto">
          <a:xfrm flipH="0" flipV="0">
            <a:off x="6164240" y="2421721"/>
            <a:ext cx="2700441" cy="14544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4200" b="1">
                <a:solidFill>
                  <a:srgbClr val="4C8BF5"/>
                </a:solidFill>
                <a:latin typeface="Trebuchet MS"/>
                <a:ea typeface="Trebuchet MS"/>
                <a:cs typeface="Trebuchet MS"/>
              </a:rPr>
              <a:t>81</a:t>
            </a:r>
            <a:endParaRPr lang="en-US" sz="4200"/>
          </a:p>
        </p:txBody>
      </p:sp>
      <p:sp>
        <p:nvSpPr>
          <p:cNvPr id="1812518643" name="Text 8"/>
          <p:cNvSpPr/>
          <p:nvPr/>
        </p:nvSpPr>
        <p:spPr bwMode="auto">
          <a:xfrm flipH="0" flipV="0">
            <a:off x="6164240" y="3153241"/>
            <a:ext cx="2700441" cy="727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00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Story Points</a:t>
            </a:r>
            <a:endParaRPr sz="2000"/>
          </a:p>
        </p:txBody>
      </p:sp>
      <p:sp>
        <p:nvSpPr>
          <p:cNvPr id="922999580" name="Shape 9"/>
          <p:cNvSpPr/>
          <p:nvPr/>
        </p:nvSpPr>
        <p:spPr bwMode="auto">
          <a:xfrm flipH="0" flipV="0">
            <a:off x="9402740" y="2330281"/>
            <a:ext cx="2551002" cy="2545351"/>
          </a:xfrm>
          <a:prstGeom prst="rect">
            <a:avLst/>
          </a:prstGeom>
          <a:solidFill>
            <a:srgbClr val="4A1942"/>
          </a:solidFill>
          <a:ln w="25400">
            <a:solidFill>
              <a:srgbClr val="C678DD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26885676" name="Text 10"/>
          <p:cNvSpPr/>
          <p:nvPr/>
        </p:nvSpPr>
        <p:spPr bwMode="auto">
          <a:xfrm flipH="0" flipV="0">
            <a:off x="9402740" y="2421721"/>
            <a:ext cx="2551002" cy="14544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4200" b="1">
                <a:solidFill>
                  <a:srgbClr val="C678DD"/>
                </a:solidFill>
                <a:latin typeface="Trebuchet MS"/>
                <a:ea typeface="Trebuchet MS"/>
                <a:cs typeface="Trebuchet MS"/>
              </a:rPr>
              <a:t>3</a:t>
            </a:r>
            <a:endParaRPr lang="en-US" sz="4200"/>
          </a:p>
        </p:txBody>
      </p:sp>
      <p:sp>
        <p:nvSpPr>
          <p:cNvPr id="340508868" name="Text 11"/>
          <p:cNvSpPr/>
          <p:nvPr/>
        </p:nvSpPr>
        <p:spPr bwMode="auto">
          <a:xfrm flipH="0" flipV="0">
            <a:off x="9402740" y="3153241"/>
            <a:ext cx="2551002" cy="727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00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Sprint</a:t>
            </a:r>
            <a:endParaRPr sz="2000"/>
          </a:p>
        </p:txBody>
      </p:sp>
      <p:sp>
        <p:nvSpPr>
          <p:cNvPr id="1445976227" name="Shape 12"/>
          <p:cNvSpPr/>
          <p:nvPr/>
        </p:nvSpPr>
        <p:spPr bwMode="auto">
          <a:xfrm flipH="0" flipV="0">
            <a:off x="12396312" y="2330281"/>
            <a:ext cx="2822056" cy="2545351"/>
          </a:xfrm>
          <a:prstGeom prst="rect">
            <a:avLst/>
          </a:prstGeom>
          <a:solidFill>
            <a:srgbClr val="4A2C0A"/>
          </a:solidFill>
          <a:ln w="25400">
            <a:solidFill>
              <a:srgbClr val="E67E22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115890931" name="Text 13"/>
          <p:cNvSpPr/>
          <p:nvPr/>
        </p:nvSpPr>
        <p:spPr bwMode="auto">
          <a:xfrm flipH="0" flipV="0">
            <a:off x="12396312" y="2421721"/>
            <a:ext cx="2822056" cy="14544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4200" b="1">
                <a:solidFill>
                  <a:srgbClr val="E67E22"/>
                </a:solidFill>
                <a:latin typeface="Trebuchet MS"/>
                <a:ea typeface="Trebuchet MS"/>
                <a:cs typeface="Trebuchet MS"/>
              </a:rPr>
              <a:t>27</a:t>
            </a:r>
            <a:endParaRPr lang="en-US" sz="4200"/>
          </a:p>
        </p:txBody>
      </p:sp>
      <p:sp>
        <p:nvSpPr>
          <p:cNvPr id="310188" name="Text 14"/>
          <p:cNvSpPr/>
          <p:nvPr/>
        </p:nvSpPr>
        <p:spPr bwMode="auto">
          <a:xfrm flipH="0" flipV="0">
            <a:off x="12396312" y="3153241"/>
            <a:ext cx="2822056" cy="727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00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SP per Sprint</a:t>
            </a:r>
            <a:endParaRPr sz="2000"/>
          </a:p>
        </p:txBody>
      </p:sp>
      <p:grpSp>
        <p:nvGrpSpPr>
          <p:cNvPr id="1520116583" name="Group 4"/>
          <p:cNvGrpSpPr/>
          <p:nvPr/>
        </p:nvGrpSpPr>
        <p:grpSpPr bwMode="auto">
          <a:xfrm rot="0" flipH="0" flipV="0">
            <a:off x="273692" y="6721453"/>
            <a:ext cx="3837215" cy="2490106"/>
            <a:chOff x="0" y="0"/>
            <a:chExt cx="3837215" cy="2490106"/>
          </a:xfrm>
        </p:grpSpPr>
        <p:sp>
          <p:nvSpPr>
            <p:cNvPr id="1633893193" name="Freeform 5"/>
            <p:cNvSpPr/>
            <p:nvPr/>
          </p:nvSpPr>
          <p:spPr bwMode="auto">
            <a:xfrm rot="0" flipH="0" flipV="0">
              <a:off x="0" y="0"/>
              <a:ext cx="3837215" cy="2490106"/>
            </a:xfrm>
            <a:custGeom>
              <a:avLst/>
              <a:gdLst/>
              <a:ahLst/>
              <a:cxnLst/>
              <a:rect l="l" t="t" r="r" b="b"/>
              <a:pathLst>
                <a:path w="1218431" h="675260" fill="norm" stroke="1" extrusionOk="0">
                  <a:moveTo>
                    <a:pt x="25909" y="0"/>
                  </a:moveTo>
                  <a:lnTo>
                    <a:pt x="1192521" y="0"/>
                  </a:lnTo>
                  <a:cubicBezTo>
                    <a:pt x="1199393" y="0"/>
                    <a:pt x="1205983" y="2730"/>
                    <a:pt x="1210842" y="7589"/>
                  </a:cubicBezTo>
                  <a:cubicBezTo>
                    <a:pt x="1215701" y="12448"/>
                    <a:pt x="1218431" y="19038"/>
                    <a:pt x="1218431" y="25909"/>
                  </a:cubicBezTo>
                  <a:lnTo>
                    <a:pt x="1218431" y="649351"/>
                  </a:lnTo>
                  <a:cubicBezTo>
                    <a:pt x="1218431" y="663660"/>
                    <a:pt x="1206831" y="675260"/>
                    <a:pt x="1192521" y="675260"/>
                  </a:cubicBezTo>
                  <a:lnTo>
                    <a:pt x="25909" y="675260"/>
                  </a:lnTo>
                  <a:cubicBezTo>
                    <a:pt x="19038" y="675260"/>
                    <a:pt x="12448" y="672531"/>
                    <a:pt x="7589" y="667672"/>
                  </a:cubicBezTo>
                  <a:cubicBezTo>
                    <a:pt x="2730" y="662813"/>
                    <a:pt x="0" y="656222"/>
                    <a:pt x="0" y="649351"/>
                  </a:cubicBezTo>
                  <a:lnTo>
                    <a:pt x="0" y="25909"/>
                  </a:lnTo>
                  <a:cubicBezTo>
                    <a:pt x="0" y="19038"/>
                    <a:pt x="2730" y="12448"/>
                    <a:pt x="7589" y="7589"/>
                  </a:cubicBezTo>
                  <a:cubicBezTo>
                    <a:pt x="12448" y="2730"/>
                    <a:pt x="19038" y="0"/>
                    <a:pt x="25909" y="0"/>
                  </a:cubicBezTo>
                  <a:close/>
                </a:path>
              </a:pathLst>
            </a:custGeom>
            <a:solidFill>
              <a:srgbClr val="FBF7E3"/>
            </a:solidFill>
            <a:ln w="19050" cap="rnd">
              <a:solidFill>
                <a:srgbClr val="FBF7E3"/>
              </a:solidFill>
              <a:prstDash val="solid"/>
              <a:round/>
            </a:ln>
            <a:effectLst/>
          </p:spPr>
          <p:txBody>
            <a:bodyPr anchor="ctr"/>
            <a:p>
              <a:pPr algn="ctr">
                <a:defRPr/>
              </a:pP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547513327" name="TextBox 6"/>
            <p:cNvSpPr txBox="1"/>
            <p:nvPr/>
          </p:nvSpPr>
          <p:spPr bwMode="auto">
            <a:xfrm>
              <a:off x="0" y="-175623"/>
              <a:ext cx="3837215" cy="2665729"/>
            </a:xfrm>
            <a:prstGeom prst="rect">
              <a:avLst/>
            </a:prstGeom>
            <a:solidFill>
              <a:srgbClr val="0D1117"/>
            </a:solidFill>
            <a:effectLst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3353"/>
                </a:lnSpc>
                <a:defRPr/>
              </a:pPr>
              <a:endParaRPr>
                <a:solidFill>
                  <a:schemeClr val="bg1"/>
                </a:solidFill>
              </a:endParaRPr>
            </a:p>
          </p:txBody>
        </p:sp>
      </p:grpSp>
      <p:sp>
        <p:nvSpPr>
          <p:cNvPr id="1806291373" name="TextBox 7"/>
          <p:cNvSpPr txBox="1"/>
          <p:nvPr/>
        </p:nvSpPr>
        <p:spPr bwMode="auto">
          <a:xfrm rot="0" flipH="0" flipV="0">
            <a:off x="687627" y="6890280"/>
            <a:ext cx="3009706" cy="1166220"/>
          </a:xfrm>
          <a:prstGeom prst="rect">
            <a:avLst/>
          </a:prstGeom>
          <a:effectLst/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89"/>
              </a:lnSpc>
              <a:defRPr/>
            </a:pPr>
            <a:r>
              <a:rPr lang="en-US" sz="2400" b="1">
                <a:solidFill>
                  <a:schemeClr val="bg1"/>
                </a:solidFill>
                <a:latin typeface="Agrandir Bold"/>
                <a:ea typeface="Agrandir Bold"/>
                <a:cs typeface="Agrandir Bold"/>
              </a:rPr>
              <a:t>Gestione delle Tracce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369087314" name="TextBox 10"/>
          <p:cNvSpPr txBox="1"/>
          <p:nvPr/>
        </p:nvSpPr>
        <p:spPr bwMode="auto">
          <a:xfrm rot="0" flipH="0" flipV="0">
            <a:off x="1730973" y="7959703"/>
            <a:ext cx="922652" cy="898071"/>
          </a:xfrm>
          <a:prstGeom prst="rect">
            <a:avLst/>
          </a:prstGeom>
          <a:effectLst/>
        </p:spPr>
        <p:txBody>
          <a:bodyPr lIns="50799" tIns="50799" rIns="50799" bIns="50799" rtlCol="0" anchor="ctr"/>
          <a:lstStyle/>
          <a:p>
            <a:pPr algn="ctr">
              <a:lnSpc>
                <a:spcPts val="5033"/>
              </a:lnSpc>
              <a:defRPr/>
            </a:pPr>
            <a:r>
              <a:rPr lang="en-US" sz="3600" b="1" spc="-289">
                <a:solidFill>
                  <a:schemeClr val="bg1"/>
                </a:solidFill>
                <a:latin typeface="Open Sauce Bold"/>
                <a:ea typeface="Open Sauce Bold"/>
                <a:cs typeface="Open Sauce Bold"/>
              </a:rPr>
              <a:t>14</a:t>
            </a:r>
            <a:endParaRPr>
              <a:solidFill>
                <a:schemeClr val="bg1"/>
              </a:solidFill>
            </a:endParaRPr>
          </a:p>
        </p:txBody>
      </p:sp>
      <p:grpSp>
        <p:nvGrpSpPr>
          <p:cNvPr id="1624758159" name="Group 4"/>
          <p:cNvGrpSpPr/>
          <p:nvPr/>
        </p:nvGrpSpPr>
        <p:grpSpPr bwMode="auto">
          <a:xfrm rot="0" flipH="0" flipV="0">
            <a:off x="4952214" y="6752200"/>
            <a:ext cx="3837214" cy="2490105"/>
            <a:chOff x="0" y="0"/>
            <a:chExt cx="3837214" cy="2490105"/>
          </a:xfrm>
        </p:grpSpPr>
        <p:sp>
          <p:nvSpPr>
            <p:cNvPr id="1930768475" name="Freeform 5"/>
            <p:cNvSpPr/>
            <p:nvPr/>
          </p:nvSpPr>
          <p:spPr bwMode="auto">
            <a:xfrm rot="0" flipH="0" flipV="0">
              <a:off x="0" y="0"/>
              <a:ext cx="3837214" cy="2490105"/>
            </a:xfrm>
            <a:custGeom>
              <a:avLst/>
              <a:gdLst/>
              <a:ahLst/>
              <a:cxnLst/>
              <a:rect l="l" t="t" r="r" b="b"/>
              <a:pathLst>
                <a:path w="1218431" h="675260" fill="norm" stroke="1" extrusionOk="0">
                  <a:moveTo>
                    <a:pt x="25909" y="0"/>
                  </a:moveTo>
                  <a:lnTo>
                    <a:pt x="1192521" y="0"/>
                  </a:lnTo>
                  <a:cubicBezTo>
                    <a:pt x="1199393" y="0"/>
                    <a:pt x="1205983" y="2730"/>
                    <a:pt x="1210842" y="7589"/>
                  </a:cubicBezTo>
                  <a:cubicBezTo>
                    <a:pt x="1215701" y="12448"/>
                    <a:pt x="1218431" y="19038"/>
                    <a:pt x="1218431" y="25909"/>
                  </a:cubicBezTo>
                  <a:lnTo>
                    <a:pt x="1218431" y="649351"/>
                  </a:lnTo>
                  <a:cubicBezTo>
                    <a:pt x="1218431" y="663660"/>
                    <a:pt x="1206831" y="675260"/>
                    <a:pt x="1192521" y="675260"/>
                  </a:cubicBezTo>
                  <a:lnTo>
                    <a:pt x="25909" y="675260"/>
                  </a:lnTo>
                  <a:cubicBezTo>
                    <a:pt x="19038" y="675260"/>
                    <a:pt x="12448" y="672531"/>
                    <a:pt x="7589" y="667672"/>
                  </a:cubicBezTo>
                  <a:cubicBezTo>
                    <a:pt x="2730" y="662813"/>
                    <a:pt x="0" y="656222"/>
                    <a:pt x="0" y="649351"/>
                  </a:cubicBezTo>
                  <a:lnTo>
                    <a:pt x="0" y="25909"/>
                  </a:lnTo>
                  <a:cubicBezTo>
                    <a:pt x="0" y="19038"/>
                    <a:pt x="2730" y="12448"/>
                    <a:pt x="7589" y="7589"/>
                  </a:cubicBezTo>
                  <a:cubicBezTo>
                    <a:pt x="12448" y="2730"/>
                    <a:pt x="19038" y="0"/>
                    <a:pt x="25909" y="0"/>
                  </a:cubicBezTo>
                  <a:close/>
                </a:path>
              </a:pathLst>
            </a:custGeom>
            <a:solidFill>
              <a:schemeClr val="bg1"/>
            </a:solidFill>
            <a:ln w="19050" cap="rnd">
              <a:solidFill>
                <a:srgbClr val="FBF7E3"/>
              </a:solidFill>
              <a:prstDash val="solid"/>
              <a:round/>
            </a:ln>
            <a:effectLst/>
          </p:spPr>
        </p:sp>
        <p:sp>
          <p:nvSpPr>
            <p:cNvPr id="939296346" name="TextBox 6"/>
            <p:cNvSpPr txBox="1"/>
            <p:nvPr/>
          </p:nvSpPr>
          <p:spPr bwMode="auto">
            <a:xfrm>
              <a:off x="0" y="-175622"/>
              <a:ext cx="3837214" cy="2665728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3353"/>
                </a:lnSpc>
                <a:defRPr/>
              </a:pPr>
              <a:endParaRPr/>
            </a:p>
          </p:txBody>
        </p:sp>
      </p:grpSp>
      <p:sp>
        <p:nvSpPr>
          <p:cNvPr id="461648118" name="TextBox 7"/>
          <p:cNvSpPr txBox="1"/>
          <p:nvPr/>
        </p:nvSpPr>
        <p:spPr bwMode="auto">
          <a:xfrm rot="0" flipH="0" flipV="0">
            <a:off x="5536962" y="6890280"/>
            <a:ext cx="2667719" cy="1440540"/>
          </a:xfrm>
          <a:prstGeom prst="rect">
            <a:avLst/>
          </a:prstGeom>
          <a:effectLst/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89"/>
              </a:lnSpc>
              <a:defRPr/>
            </a:pPr>
            <a:r>
              <a:rPr lang="en-US" sz="2400" b="1" i="0" u="none" strike="noStrike" cap="none" spc="0">
                <a:solidFill>
                  <a:schemeClr val="tx1"/>
                </a:solidFill>
                <a:latin typeface="Agrandir Bold"/>
                <a:ea typeface="Agrandir Bold"/>
                <a:cs typeface="Agrandir Bold"/>
              </a:rPr>
              <a:t>Gestione delle Playlist</a:t>
            </a:r>
            <a:endParaRPr sz="2400">
              <a:solidFill>
                <a:schemeClr val="tx1"/>
              </a:solidFill>
            </a:endParaRPr>
          </a:p>
          <a:p>
            <a:pPr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813257003" name="TextBox 10"/>
          <p:cNvSpPr txBox="1"/>
          <p:nvPr/>
        </p:nvSpPr>
        <p:spPr bwMode="auto">
          <a:xfrm rot="0" flipH="0" flipV="0">
            <a:off x="6483458" y="8056500"/>
            <a:ext cx="922651" cy="898070"/>
          </a:xfrm>
          <a:prstGeom prst="rect">
            <a:avLst/>
          </a:prstGeom>
          <a:effectLst/>
        </p:spPr>
        <p:txBody>
          <a:bodyPr lIns="50799" tIns="50799" rIns="50799" bIns="50799" rtlCol="0" anchor="ctr"/>
          <a:lstStyle/>
          <a:p>
            <a:pPr algn="ctr">
              <a:lnSpc>
                <a:spcPts val="5033"/>
              </a:lnSpc>
              <a:defRPr/>
            </a:pPr>
            <a:r>
              <a:rPr lang="it-IT" sz="3600" b="1" spc="-289">
                <a:solidFill>
                  <a:srgbClr val="252525"/>
                </a:solidFill>
                <a:latin typeface="Open Sauce Bold"/>
                <a:ea typeface="Open Sauce Bold"/>
                <a:cs typeface="Open Sauce Bold"/>
              </a:rPr>
              <a:t>24</a:t>
            </a:r>
            <a:endParaRPr/>
          </a:p>
        </p:txBody>
      </p:sp>
      <p:grpSp>
        <p:nvGrpSpPr>
          <p:cNvPr id="9784522" name="Group 4"/>
          <p:cNvGrpSpPr/>
          <p:nvPr/>
        </p:nvGrpSpPr>
        <p:grpSpPr bwMode="auto">
          <a:xfrm rot="0" flipH="0" flipV="0">
            <a:off x="9605766" y="6745397"/>
            <a:ext cx="3837214" cy="2490105"/>
            <a:chOff x="0" y="0"/>
            <a:chExt cx="3837214" cy="2490105"/>
          </a:xfrm>
        </p:grpSpPr>
        <p:sp>
          <p:nvSpPr>
            <p:cNvPr id="144914582" name="Freeform 5"/>
            <p:cNvSpPr/>
            <p:nvPr/>
          </p:nvSpPr>
          <p:spPr bwMode="auto">
            <a:xfrm rot="0" flipH="0" flipV="0">
              <a:off x="0" y="0"/>
              <a:ext cx="3837214" cy="2490105"/>
            </a:xfrm>
            <a:custGeom>
              <a:avLst/>
              <a:gdLst/>
              <a:ahLst/>
              <a:cxnLst/>
              <a:rect l="l" t="t" r="r" b="b"/>
              <a:pathLst>
                <a:path w="1218431" h="675260" fill="norm" stroke="1" extrusionOk="0">
                  <a:moveTo>
                    <a:pt x="25909" y="0"/>
                  </a:moveTo>
                  <a:lnTo>
                    <a:pt x="1192521" y="0"/>
                  </a:lnTo>
                  <a:cubicBezTo>
                    <a:pt x="1199393" y="0"/>
                    <a:pt x="1205983" y="2730"/>
                    <a:pt x="1210842" y="7589"/>
                  </a:cubicBezTo>
                  <a:cubicBezTo>
                    <a:pt x="1215701" y="12448"/>
                    <a:pt x="1218431" y="19038"/>
                    <a:pt x="1218431" y="25909"/>
                  </a:cubicBezTo>
                  <a:lnTo>
                    <a:pt x="1218431" y="649351"/>
                  </a:lnTo>
                  <a:cubicBezTo>
                    <a:pt x="1218431" y="663660"/>
                    <a:pt x="1206831" y="675260"/>
                    <a:pt x="1192521" y="675260"/>
                  </a:cubicBezTo>
                  <a:lnTo>
                    <a:pt x="25909" y="675260"/>
                  </a:lnTo>
                  <a:cubicBezTo>
                    <a:pt x="19038" y="675260"/>
                    <a:pt x="12448" y="672531"/>
                    <a:pt x="7589" y="667672"/>
                  </a:cubicBezTo>
                  <a:cubicBezTo>
                    <a:pt x="2730" y="662813"/>
                    <a:pt x="0" y="656222"/>
                    <a:pt x="0" y="649351"/>
                  </a:cubicBezTo>
                  <a:lnTo>
                    <a:pt x="0" y="25909"/>
                  </a:lnTo>
                  <a:cubicBezTo>
                    <a:pt x="0" y="19038"/>
                    <a:pt x="2730" y="12448"/>
                    <a:pt x="7589" y="7589"/>
                  </a:cubicBezTo>
                  <a:cubicBezTo>
                    <a:pt x="12448" y="2730"/>
                    <a:pt x="19038" y="0"/>
                    <a:pt x="25909" y="0"/>
                  </a:cubicBezTo>
                  <a:close/>
                </a:path>
              </a:pathLst>
            </a:custGeom>
            <a:solidFill>
              <a:srgbClr val="0D1117"/>
            </a:solidFill>
            <a:ln w="19050" cap="rnd">
              <a:solidFill>
                <a:srgbClr val="FBF7E3"/>
              </a:solidFill>
              <a:prstDash val="solid"/>
              <a:round/>
            </a:ln>
            <a:effectLst/>
          </p:spPr>
        </p:sp>
        <p:sp>
          <p:nvSpPr>
            <p:cNvPr id="1611672076" name="TextBox 6"/>
            <p:cNvSpPr txBox="1"/>
            <p:nvPr/>
          </p:nvSpPr>
          <p:spPr bwMode="auto">
            <a:xfrm>
              <a:off x="0" y="-175622"/>
              <a:ext cx="3837214" cy="2665728"/>
            </a:xfrm>
            <a:prstGeom prst="rect">
              <a:avLst/>
            </a:prstGeom>
            <a:solidFill>
              <a:srgbClr val="0D1117"/>
            </a:solidFill>
            <a:effectLst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3353"/>
                </a:lnSpc>
                <a:defRPr/>
              </a:pPr>
              <a:endParaRPr/>
            </a:p>
          </p:txBody>
        </p:sp>
      </p:grpSp>
      <p:sp>
        <p:nvSpPr>
          <p:cNvPr id="1302223288" name="TextBox 7"/>
          <p:cNvSpPr txBox="1"/>
          <p:nvPr/>
        </p:nvSpPr>
        <p:spPr bwMode="auto">
          <a:xfrm rot="0" flipH="0" flipV="0">
            <a:off x="9888901" y="6890280"/>
            <a:ext cx="3099443" cy="1440540"/>
          </a:xfrm>
          <a:prstGeom prst="rect">
            <a:avLst/>
          </a:prstGeom>
          <a:effectLst/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89"/>
              </a:lnSpc>
              <a:defRPr/>
            </a:pPr>
            <a:r>
              <a:rPr lang="en-US" sz="2400" b="1" i="0" u="none" strike="noStrike" cap="none" spc="0">
                <a:solidFill>
                  <a:schemeClr val="bg1"/>
                </a:solidFill>
                <a:latin typeface="Agrandir Bold"/>
                <a:ea typeface="Agrandir Bold"/>
                <a:cs typeface="Agrandir Bold"/>
              </a:rPr>
              <a:t>Gestione della Coda di Ascolto</a:t>
            </a:r>
            <a:endParaRPr sz="2400">
              <a:solidFill>
                <a:schemeClr val="bg1"/>
              </a:solidFill>
            </a:endParaRPr>
          </a:p>
          <a:p>
            <a:pPr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1304930206" name="TextBox 10"/>
          <p:cNvSpPr txBox="1"/>
          <p:nvPr/>
        </p:nvSpPr>
        <p:spPr bwMode="auto">
          <a:xfrm rot="0" flipH="0" flipV="0">
            <a:off x="10977117" y="8047521"/>
            <a:ext cx="922651" cy="898070"/>
          </a:xfrm>
          <a:prstGeom prst="rect">
            <a:avLst/>
          </a:prstGeom>
          <a:effectLst/>
        </p:spPr>
        <p:txBody>
          <a:bodyPr lIns="50799" tIns="50799" rIns="50799" bIns="50799" rtlCol="0" anchor="ctr"/>
          <a:lstStyle/>
          <a:p>
            <a:pPr algn="ctr">
              <a:lnSpc>
                <a:spcPts val="5033"/>
              </a:lnSpc>
              <a:defRPr/>
            </a:pPr>
            <a:r>
              <a:rPr lang="en-US" sz="3600" b="1" spc="-289">
                <a:solidFill>
                  <a:schemeClr val="bg1"/>
                </a:solidFill>
                <a:latin typeface="Open Sauce Bold"/>
                <a:ea typeface="Open Sauce Bold"/>
                <a:cs typeface="Open Sauce Bold"/>
              </a:rPr>
              <a:t>1</a:t>
            </a:r>
            <a:r>
              <a:rPr lang="it-IT" sz="3600" b="1" spc="-289">
                <a:solidFill>
                  <a:schemeClr val="bg1"/>
                </a:solidFill>
                <a:latin typeface="Open Sauce Bold"/>
                <a:ea typeface="Open Sauce Bold"/>
                <a:cs typeface="Open Sauce Bold"/>
              </a:rPr>
              <a:t>8</a:t>
            </a:r>
            <a:endParaRPr>
              <a:solidFill>
                <a:schemeClr val="bg1"/>
              </a:solidFill>
            </a:endParaRPr>
          </a:p>
        </p:txBody>
      </p:sp>
      <p:grpSp>
        <p:nvGrpSpPr>
          <p:cNvPr id="769111736" name="Group 4"/>
          <p:cNvGrpSpPr/>
          <p:nvPr/>
        </p:nvGrpSpPr>
        <p:grpSpPr bwMode="auto">
          <a:xfrm rot="0" flipH="0" flipV="0">
            <a:off x="14212749" y="6721453"/>
            <a:ext cx="3837214" cy="2490105"/>
            <a:chOff x="0" y="0"/>
            <a:chExt cx="3837214" cy="2490105"/>
          </a:xfrm>
        </p:grpSpPr>
        <p:sp>
          <p:nvSpPr>
            <p:cNvPr id="684178521" name="Freeform 5"/>
            <p:cNvSpPr/>
            <p:nvPr/>
          </p:nvSpPr>
          <p:spPr bwMode="auto">
            <a:xfrm rot="0" flipH="0" flipV="0">
              <a:off x="0" y="0"/>
              <a:ext cx="3837214" cy="2490105"/>
            </a:xfrm>
            <a:custGeom>
              <a:avLst/>
              <a:gdLst/>
              <a:ahLst/>
              <a:cxnLst/>
              <a:rect l="l" t="t" r="r" b="b"/>
              <a:pathLst>
                <a:path w="1218431" h="675260" fill="norm" stroke="1" extrusionOk="0">
                  <a:moveTo>
                    <a:pt x="25909" y="0"/>
                  </a:moveTo>
                  <a:lnTo>
                    <a:pt x="1192521" y="0"/>
                  </a:lnTo>
                  <a:cubicBezTo>
                    <a:pt x="1199393" y="0"/>
                    <a:pt x="1205983" y="2730"/>
                    <a:pt x="1210842" y="7589"/>
                  </a:cubicBezTo>
                  <a:cubicBezTo>
                    <a:pt x="1215701" y="12448"/>
                    <a:pt x="1218431" y="19038"/>
                    <a:pt x="1218431" y="25909"/>
                  </a:cubicBezTo>
                  <a:lnTo>
                    <a:pt x="1218431" y="649351"/>
                  </a:lnTo>
                  <a:cubicBezTo>
                    <a:pt x="1218431" y="663660"/>
                    <a:pt x="1206831" y="675260"/>
                    <a:pt x="1192521" y="675260"/>
                  </a:cubicBezTo>
                  <a:lnTo>
                    <a:pt x="25909" y="675260"/>
                  </a:lnTo>
                  <a:cubicBezTo>
                    <a:pt x="19038" y="675260"/>
                    <a:pt x="12448" y="672531"/>
                    <a:pt x="7589" y="667672"/>
                  </a:cubicBezTo>
                  <a:cubicBezTo>
                    <a:pt x="2730" y="662813"/>
                    <a:pt x="0" y="656222"/>
                    <a:pt x="0" y="649351"/>
                  </a:cubicBezTo>
                  <a:lnTo>
                    <a:pt x="0" y="25909"/>
                  </a:lnTo>
                  <a:cubicBezTo>
                    <a:pt x="0" y="19038"/>
                    <a:pt x="2730" y="12448"/>
                    <a:pt x="7589" y="7589"/>
                  </a:cubicBezTo>
                  <a:cubicBezTo>
                    <a:pt x="12448" y="2730"/>
                    <a:pt x="19038" y="0"/>
                    <a:pt x="25909" y="0"/>
                  </a:cubicBezTo>
                  <a:close/>
                </a:path>
              </a:pathLst>
            </a:custGeom>
            <a:solidFill>
              <a:schemeClr val="bg1"/>
            </a:solidFill>
            <a:ln w="19050" cap="rnd">
              <a:solidFill>
                <a:srgbClr val="FBF7E3"/>
              </a:solidFill>
              <a:prstDash val="solid"/>
              <a:round/>
            </a:ln>
            <a:effectLst/>
          </p:spPr>
        </p:sp>
        <p:sp>
          <p:nvSpPr>
            <p:cNvPr id="36149039" name="TextBox 6"/>
            <p:cNvSpPr txBox="1"/>
            <p:nvPr/>
          </p:nvSpPr>
          <p:spPr bwMode="auto">
            <a:xfrm>
              <a:off x="0" y="-175622"/>
              <a:ext cx="3837214" cy="2665728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3353"/>
                </a:lnSpc>
                <a:defRPr/>
              </a:pPr>
              <a:endParaRPr/>
            </a:p>
          </p:txBody>
        </p:sp>
      </p:grpSp>
      <p:sp>
        <p:nvSpPr>
          <p:cNvPr id="1158623962" name="TextBox 7"/>
          <p:cNvSpPr txBox="1"/>
          <p:nvPr/>
        </p:nvSpPr>
        <p:spPr bwMode="auto">
          <a:xfrm rot="0" flipH="0" flipV="0">
            <a:off x="14267178" y="6899725"/>
            <a:ext cx="3784945" cy="2023470"/>
          </a:xfrm>
          <a:prstGeom prst="rect">
            <a:avLst/>
          </a:prstGeom>
          <a:effectLst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89"/>
              </a:lnSpc>
              <a:defRPr/>
            </a:pPr>
            <a:r>
              <a:rPr lang="en-US" sz="2400" b="1" i="0" u="none" strike="noStrike" cap="none" spc="0">
                <a:solidFill>
                  <a:srgbClr val="000000"/>
                </a:solidFill>
                <a:latin typeface="Agrandir Bold"/>
                <a:ea typeface="Agrandir Bold"/>
                <a:cs typeface="Agrandir Bold"/>
              </a:rPr>
              <a:t>Gestione dell’Interfaccia Utente</a:t>
            </a:r>
            <a:endParaRPr sz="2400"/>
          </a:p>
          <a:p>
            <a:pPr marL="0" lvl="0" indent="0" algn="ctr">
              <a:lnSpc>
                <a:spcPts val="4589"/>
              </a:lnSpc>
              <a:defRPr/>
            </a:pPr>
            <a:endParaRPr sz="2400" b="1">
              <a:solidFill>
                <a:srgbClr val="000000"/>
              </a:solidFill>
              <a:latin typeface="Agrandir Bold"/>
              <a:ea typeface="Agrandir Bold"/>
              <a:cs typeface="Agrandir Bold"/>
            </a:endParaRPr>
          </a:p>
          <a:p>
            <a:pPr>
              <a:defRPr/>
            </a:pPr>
            <a:endParaRPr/>
          </a:p>
        </p:txBody>
      </p:sp>
      <p:sp>
        <p:nvSpPr>
          <p:cNvPr id="1724566309" name="TextBox 25"/>
          <p:cNvSpPr txBox="1"/>
          <p:nvPr/>
        </p:nvSpPr>
        <p:spPr bwMode="auto">
          <a:xfrm>
            <a:off x="15829451" y="8130699"/>
            <a:ext cx="660399" cy="727074"/>
          </a:xfrm>
          <a:prstGeom prst="rect">
            <a:avLst/>
          </a:prstGeom>
          <a:effectLst/>
        </p:spPr>
        <p:txBody>
          <a:bodyPr lIns="50799" tIns="50799" rIns="50799" bIns="50799" rtlCol="0" anchor="ctr"/>
          <a:lstStyle/>
          <a:p>
            <a:pPr algn="ctr">
              <a:lnSpc>
                <a:spcPts val="5039"/>
              </a:lnSpc>
              <a:defRPr/>
            </a:pPr>
            <a:r>
              <a:rPr lang="en-US" sz="3600" b="1" spc="-289">
                <a:solidFill>
                  <a:srgbClr val="252525"/>
                </a:solidFill>
                <a:latin typeface="Open Sauce Bold"/>
                <a:ea typeface="Open Sauce Bold"/>
                <a:cs typeface="Open Sauce Bold"/>
              </a:rPr>
              <a:t>25</a:t>
            </a:r>
            <a:endParaRPr/>
          </a:p>
        </p:txBody>
      </p:sp>
      <p:sp>
        <p:nvSpPr>
          <p:cNvPr id="1180234063" name=""/>
          <p:cNvSpPr txBox="1"/>
          <p:nvPr/>
        </p:nvSpPr>
        <p:spPr bwMode="auto">
          <a:xfrm rot="0" flipH="0" flipV="0">
            <a:off x="247714" y="5742214"/>
            <a:ext cx="5992182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71994" indent="-371994">
              <a:buFont typeface="Arial"/>
              <a:buChar char="•"/>
              <a:defRPr/>
            </a:pPr>
            <a:r>
              <a:rPr lang="it-IT" sz="2600" b="1"/>
              <a:t>Categorie</a:t>
            </a:r>
            <a:endParaRPr sz="26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7A8B9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9865991" name="Freeform 2"/>
          <p:cNvSpPr/>
          <p:nvPr/>
        </p:nvSpPr>
        <p:spPr bwMode="auto">
          <a:xfrm rot="0" flipH="0" flipV="0">
            <a:off x="545113" y="2056366"/>
            <a:ext cx="2780120" cy="7686215"/>
          </a:xfrm>
          <a:custGeom>
            <a:avLst/>
            <a:gdLst/>
            <a:ahLst/>
            <a:cxnLst/>
            <a:rect l="l" t="t" r="r" b="b"/>
            <a:pathLst>
              <a:path w="2780120" h="7686215" fill="norm" stroke="1" extrusionOk="0">
                <a:moveTo>
                  <a:pt x="0" y="0"/>
                </a:moveTo>
                <a:lnTo>
                  <a:pt x="2780120" y="0"/>
                </a:lnTo>
                <a:lnTo>
                  <a:pt x="2780120" y="7686215"/>
                </a:lnTo>
                <a:lnTo>
                  <a:pt x="0" y="76862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sp>
        <p:nvSpPr>
          <p:cNvPr id="626131413" name="Freeform 3"/>
          <p:cNvSpPr/>
          <p:nvPr/>
        </p:nvSpPr>
        <p:spPr bwMode="auto">
          <a:xfrm rot="0" flipH="0" flipV="0">
            <a:off x="10662024" y="2056366"/>
            <a:ext cx="4823342" cy="6356958"/>
          </a:xfrm>
          <a:custGeom>
            <a:avLst/>
            <a:gdLst/>
            <a:ahLst/>
            <a:cxnLst/>
            <a:rect l="l" t="t" r="r" b="b"/>
            <a:pathLst>
              <a:path w="4823342" h="6356958" fill="norm" stroke="1" extrusionOk="0">
                <a:moveTo>
                  <a:pt x="0" y="0"/>
                </a:moveTo>
                <a:lnTo>
                  <a:pt x="4823342" y="0"/>
                </a:lnTo>
                <a:lnTo>
                  <a:pt x="4823342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</p:sp>
      <p:sp>
        <p:nvSpPr>
          <p:cNvPr id="997770760" name="TextBox 5"/>
          <p:cNvSpPr txBox="1"/>
          <p:nvPr/>
        </p:nvSpPr>
        <p:spPr bwMode="auto">
          <a:xfrm rot="0">
            <a:off x="4315359" y="3147931"/>
            <a:ext cx="6046211" cy="165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  <a:defRPr/>
            </a:pPr>
            <a:r>
              <a:rPr lang="en-US" sz="4500" spc="-324">
                <a:solidFill>
                  <a:srgbClr val="000000"/>
                </a:solidFill>
                <a:latin typeface="Agrandir"/>
                <a:ea typeface="Agrandir"/>
                <a:cs typeface="Agrandir"/>
              </a:rPr>
              <a:t>Su Trello sono state caricate tutte le user stories decise dal team.</a:t>
            </a:r>
            <a:endParaRPr/>
          </a:p>
        </p:txBody>
      </p:sp>
      <p:sp>
        <p:nvSpPr>
          <p:cNvPr id="930753545" name="AutoShape 6"/>
          <p:cNvSpPr/>
          <p:nvPr/>
        </p:nvSpPr>
        <p:spPr bwMode="auto">
          <a:xfrm flipV="1">
            <a:off x="3136121" y="2882788"/>
            <a:ext cx="7828967" cy="0"/>
          </a:xfrm>
          <a:prstGeom prst="line">
            <a:avLst/>
          </a:prstGeom>
          <a:ln w="38100" cap="flat">
            <a:solidFill>
              <a:srgbClr val="FBF7E3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64943940" name="TextBox 7"/>
          <p:cNvSpPr txBox="1"/>
          <p:nvPr/>
        </p:nvSpPr>
        <p:spPr bwMode="auto">
          <a:xfrm rot="0">
            <a:off x="4315359" y="5244370"/>
            <a:ext cx="6046211" cy="2154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  <a:defRPr/>
            </a:pPr>
            <a:r>
              <a:rPr lang="en-US" sz="4500" spc="-324">
                <a:solidFill>
                  <a:srgbClr val="000000"/>
                </a:solidFill>
                <a:latin typeface="Agrandir"/>
                <a:ea typeface="Agrandir"/>
                <a:cs typeface="Agrandir"/>
              </a:rPr>
              <a:t>Le user stories sono state divise per cateforia di appartenenza, difficoltà e story points.</a:t>
            </a:r>
            <a:endParaRPr/>
          </a:p>
        </p:txBody>
      </p:sp>
      <p:sp>
        <p:nvSpPr>
          <p:cNvPr id="2015390693" name="Shape 0"/>
          <p:cNvSpPr/>
          <p:nvPr/>
        </p:nvSpPr>
        <p:spPr bwMode="auto">
          <a:xfrm flipH="0" flipV="0">
            <a:off x="0" y="0"/>
            <a:ext cx="18426856" cy="1741713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247329636" name="Shape 2"/>
          <p:cNvSpPr/>
          <p:nvPr/>
        </p:nvSpPr>
        <p:spPr bwMode="auto">
          <a:xfrm flipH="0" flipV="0">
            <a:off x="0" y="1741713"/>
            <a:ext cx="18290784" cy="10885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/>
            </a:solidFill>
            <a:prstDash val="solid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636995005" name=""/>
          <p:cNvSpPr txBox="1"/>
          <p:nvPr/>
        </p:nvSpPr>
        <p:spPr bwMode="auto">
          <a:xfrm rot="0" flipH="0" flipV="0">
            <a:off x="753550" y="-62210"/>
            <a:ext cx="11408418" cy="121435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ts val="8838"/>
              </a:lnSpc>
              <a:defRPr/>
            </a:pPr>
            <a:r>
              <a:rPr lang="it-IT" sz="4800" b="1">
                <a:solidFill>
                  <a:schemeClr val="bg1"/>
                </a:solidFill>
                <a:latin typeface="Trebuchet MS"/>
                <a:ea typeface="Trebuchet MS"/>
                <a:cs typeface="Trebuchet MS"/>
              </a:rPr>
              <a:t>PRODUCT BACKLOG - Trello</a:t>
            </a:r>
            <a:endParaRPr sz="480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7A8B9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0773959" name="Shape 0"/>
          <p:cNvSpPr/>
          <p:nvPr/>
        </p:nvSpPr>
        <p:spPr bwMode="auto">
          <a:xfrm>
            <a:off x="0" y="0"/>
            <a:ext cx="18288000" cy="201168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5361967" name="Text 1"/>
          <p:cNvSpPr/>
          <p:nvPr/>
        </p:nvSpPr>
        <p:spPr bwMode="auto">
          <a:xfrm>
            <a:off x="914400" y="0"/>
            <a:ext cx="16459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48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FIRST SPRINT PLANNING</a:t>
            </a:r>
            <a:endParaRPr sz="4800"/>
          </a:p>
        </p:txBody>
      </p:sp>
      <p:sp>
        <p:nvSpPr>
          <p:cNvPr id="1903255171" name="Shape 2"/>
          <p:cNvSpPr/>
          <p:nvPr/>
        </p:nvSpPr>
        <p:spPr bwMode="auto">
          <a:xfrm>
            <a:off x="0" y="2011680"/>
            <a:ext cx="18288000" cy="1097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09113866" name="Shape 3"/>
          <p:cNvSpPr/>
          <p:nvPr/>
        </p:nvSpPr>
        <p:spPr bwMode="auto">
          <a:xfrm>
            <a:off x="548640" y="2340864"/>
            <a:ext cx="17190720" cy="822960"/>
          </a:xfrm>
          <a:prstGeom prst="rect">
            <a:avLst/>
          </a:prstGeom>
          <a:solidFill>
            <a:srgbClr val="1B4332"/>
          </a:solidFill>
          <a:ln w="12700">
            <a:solidFill>
              <a:srgbClr val="52B788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431639206" name="Text 4"/>
          <p:cNvSpPr/>
          <p:nvPr/>
        </p:nvSpPr>
        <p:spPr bwMode="auto">
          <a:xfrm>
            <a:off x="731520" y="2340864"/>
            <a:ext cx="1682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52B788"/>
                </a:solidFill>
                <a:latin typeface="Trebuchet MS"/>
                <a:ea typeface="Trebuchet MS"/>
                <a:cs typeface="Trebuchet MS"/>
              </a:rPr>
              <a:t>Sprint 1  ·  12 User Stories  ·  27 Story Points</a:t>
            </a:r>
            <a:endParaRPr sz="2400"/>
          </a:p>
        </p:txBody>
      </p:sp>
      <p:sp>
        <p:nvSpPr>
          <p:cNvPr id="146270878" name="Shape 5"/>
          <p:cNvSpPr/>
          <p:nvPr/>
        </p:nvSpPr>
        <p:spPr bwMode="auto">
          <a:xfrm>
            <a:off x="548640" y="3438144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1677834578" name="Shape 6"/>
          <p:cNvSpPr/>
          <p:nvPr/>
        </p:nvSpPr>
        <p:spPr bwMode="auto">
          <a:xfrm>
            <a:off x="548640" y="3438144"/>
            <a:ext cx="128016" cy="9144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1641862579" name="Text 7"/>
          <p:cNvSpPr/>
          <p:nvPr/>
        </p:nvSpPr>
        <p:spPr bwMode="auto">
          <a:xfrm>
            <a:off x="822960" y="3438144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52B788"/>
                </a:solidFill>
                <a:latin typeface="Trebuchet MS"/>
                <a:ea typeface="Trebuchet MS"/>
                <a:cs typeface="Trebuchet MS"/>
              </a:rPr>
              <a:t>US1</a:t>
            </a:r>
            <a:endParaRPr sz="2400"/>
          </a:p>
        </p:txBody>
      </p:sp>
      <p:sp>
        <p:nvSpPr>
          <p:cNvPr id="1021136961" name="Text 8"/>
          <p:cNvSpPr/>
          <p:nvPr/>
        </p:nvSpPr>
        <p:spPr bwMode="auto">
          <a:xfrm>
            <a:off x="2048256" y="3438144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Creazione Tracce</a:t>
            </a:r>
            <a:endParaRPr sz="2400"/>
          </a:p>
        </p:txBody>
      </p:sp>
      <p:sp>
        <p:nvSpPr>
          <p:cNvPr id="575419118" name="Shape 9"/>
          <p:cNvSpPr/>
          <p:nvPr/>
        </p:nvSpPr>
        <p:spPr bwMode="auto">
          <a:xfrm>
            <a:off x="7644384" y="3621024"/>
            <a:ext cx="548640" cy="54864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1801136725" name="Text 10"/>
          <p:cNvSpPr/>
          <p:nvPr/>
        </p:nvSpPr>
        <p:spPr bwMode="auto">
          <a:xfrm>
            <a:off x="7644384" y="36210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5</a:t>
            </a:r>
            <a:endParaRPr sz="2400"/>
          </a:p>
        </p:txBody>
      </p:sp>
      <p:sp>
        <p:nvSpPr>
          <p:cNvPr id="865481262" name="Shape 11"/>
          <p:cNvSpPr/>
          <p:nvPr/>
        </p:nvSpPr>
        <p:spPr bwMode="auto">
          <a:xfrm>
            <a:off x="548640" y="448056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635233684" name="Shape 12"/>
          <p:cNvSpPr/>
          <p:nvPr/>
        </p:nvSpPr>
        <p:spPr bwMode="auto">
          <a:xfrm>
            <a:off x="548640" y="4480560"/>
            <a:ext cx="128016" cy="9144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661342346" name="Text 13"/>
          <p:cNvSpPr/>
          <p:nvPr/>
        </p:nvSpPr>
        <p:spPr bwMode="auto">
          <a:xfrm>
            <a:off x="822960" y="448056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52B788"/>
                </a:solidFill>
                <a:latin typeface="Trebuchet MS"/>
                <a:ea typeface="Trebuchet MS"/>
                <a:cs typeface="Trebuchet MS"/>
              </a:rPr>
              <a:t>US2</a:t>
            </a:r>
            <a:endParaRPr sz="2400"/>
          </a:p>
        </p:txBody>
      </p:sp>
      <p:sp>
        <p:nvSpPr>
          <p:cNvPr id="458719628" name="Text 14"/>
          <p:cNvSpPr/>
          <p:nvPr/>
        </p:nvSpPr>
        <p:spPr bwMode="auto">
          <a:xfrm>
            <a:off x="2048256" y="4480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Modifica Tracce</a:t>
            </a:r>
            <a:endParaRPr sz="2400"/>
          </a:p>
        </p:txBody>
      </p:sp>
      <p:sp>
        <p:nvSpPr>
          <p:cNvPr id="2075749719" name="Shape 15"/>
          <p:cNvSpPr/>
          <p:nvPr/>
        </p:nvSpPr>
        <p:spPr bwMode="auto">
          <a:xfrm>
            <a:off x="7644384" y="4663440"/>
            <a:ext cx="548640" cy="54864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39978488" name="Text 16"/>
          <p:cNvSpPr/>
          <p:nvPr/>
        </p:nvSpPr>
        <p:spPr bwMode="auto">
          <a:xfrm>
            <a:off x="7644384" y="4663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3</a:t>
            </a:r>
            <a:endParaRPr sz="2400"/>
          </a:p>
        </p:txBody>
      </p:sp>
      <p:sp>
        <p:nvSpPr>
          <p:cNvPr id="451509065" name="Shape 17"/>
          <p:cNvSpPr/>
          <p:nvPr/>
        </p:nvSpPr>
        <p:spPr bwMode="auto">
          <a:xfrm>
            <a:off x="548640" y="5522976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1623162987" name="Shape 18"/>
          <p:cNvSpPr/>
          <p:nvPr/>
        </p:nvSpPr>
        <p:spPr bwMode="auto">
          <a:xfrm>
            <a:off x="548640" y="5522976"/>
            <a:ext cx="128016" cy="9144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603896892" name="Text 19"/>
          <p:cNvSpPr/>
          <p:nvPr/>
        </p:nvSpPr>
        <p:spPr bwMode="auto">
          <a:xfrm>
            <a:off x="822960" y="5522976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52B788"/>
                </a:solidFill>
                <a:latin typeface="Trebuchet MS"/>
                <a:ea typeface="Trebuchet MS"/>
                <a:cs typeface="Trebuchet MS"/>
              </a:rPr>
              <a:t>US3</a:t>
            </a:r>
            <a:endParaRPr sz="2400"/>
          </a:p>
        </p:txBody>
      </p:sp>
      <p:sp>
        <p:nvSpPr>
          <p:cNvPr id="279407992" name="Text 20"/>
          <p:cNvSpPr/>
          <p:nvPr/>
        </p:nvSpPr>
        <p:spPr bwMode="auto">
          <a:xfrm>
            <a:off x="2048256" y="5522976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Eliminazione Tracce</a:t>
            </a:r>
            <a:endParaRPr sz="2400"/>
          </a:p>
        </p:txBody>
      </p:sp>
      <p:sp>
        <p:nvSpPr>
          <p:cNvPr id="1653821686" name="Shape 21"/>
          <p:cNvSpPr/>
          <p:nvPr/>
        </p:nvSpPr>
        <p:spPr bwMode="auto">
          <a:xfrm>
            <a:off x="7644384" y="5705856"/>
            <a:ext cx="548640" cy="54864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1609734670" name="Text 22"/>
          <p:cNvSpPr/>
          <p:nvPr/>
        </p:nvSpPr>
        <p:spPr bwMode="auto">
          <a:xfrm>
            <a:off x="7644384" y="570585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2</a:t>
            </a:r>
            <a:endParaRPr sz="2400"/>
          </a:p>
        </p:txBody>
      </p:sp>
      <p:sp>
        <p:nvSpPr>
          <p:cNvPr id="1673845199" name="Shape 23"/>
          <p:cNvSpPr/>
          <p:nvPr/>
        </p:nvSpPr>
        <p:spPr bwMode="auto">
          <a:xfrm>
            <a:off x="548640" y="6565392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28632300" name="Shape 24"/>
          <p:cNvSpPr/>
          <p:nvPr/>
        </p:nvSpPr>
        <p:spPr bwMode="auto">
          <a:xfrm>
            <a:off x="548640" y="6565392"/>
            <a:ext cx="128016" cy="9144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751200085" name="Text 25"/>
          <p:cNvSpPr/>
          <p:nvPr/>
        </p:nvSpPr>
        <p:spPr bwMode="auto">
          <a:xfrm>
            <a:off x="822960" y="6565392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52B788"/>
                </a:solidFill>
                <a:latin typeface="Trebuchet MS"/>
                <a:ea typeface="Trebuchet MS"/>
                <a:cs typeface="Trebuchet MS"/>
              </a:rPr>
              <a:t>US4</a:t>
            </a:r>
            <a:endParaRPr sz="2400"/>
          </a:p>
        </p:txBody>
      </p:sp>
      <p:sp>
        <p:nvSpPr>
          <p:cNvPr id="1342621876" name="Text 26"/>
          <p:cNvSpPr/>
          <p:nvPr/>
        </p:nvSpPr>
        <p:spPr bwMode="auto">
          <a:xfrm>
            <a:off x="2048256" y="6565392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Visualizzazione Tracce</a:t>
            </a:r>
            <a:endParaRPr sz="2400"/>
          </a:p>
        </p:txBody>
      </p:sp>
      <p:sp>
        <p:nvSpPr>
          <p:cNvPr id="857811593" name="Shape 27"/>
          <p:cNvSpPr/>
          <p:nvPr/>
        </p:nvSpPr>
        <p:spPr bwMode="auto">
          <a:xfrm>
            <a:off x="7644384" y="6748272"/>
            <a:ext cx="548640" cy="54864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1918143748" name="Text 28"/>
          <p:cNvSpPr/>
          <p:nvPr/>
        </p:nvSpPr>
        <p:spPr bwMode="auto">
          <a:xfrm>
            <a:off x="7644384" y="67482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1</a:t>
            </a:r>
            <a:endParaRPr sz="2400"/>
          </a:p>
        </p:txBody>
      </p:sp>
      <p:sp>
        <p:nvSpPr>
          <p:cNvPr id="644386491" name="Shape 29"/>
          <p:cNvSpPr/>
          <p:nvPr/>
        </p:nvSpPr>
        <p:spPr bwMode="auto">
          <a:xfrm>
            <a:off x="548640" y="7607808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1719785315" name="Shape 30"/>
          <p:cNvSpPr/>
          <p:nvPr/>
        </p:nvSpPr>
        <p:spPr bwMode="auto">
          <a:xfrm>
            <a:off x="548640" y="7607808"/>
            <a:ext cx="128016" cy="914400"/>
          </a:xfrm>
          <a:prstGeom prst="rect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1743023726" name="Text 31"/>
          <p:cNvSpPr/>
          <p:nvPr/>
        </p:nvSpPr>
        <p:spPr bwMode="auto">
          <a:xfrm>
            <a:off x="822960" y="7607808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4C8BF5"/>
                </a:solidFill>
                <a:latin typeface="Trebuchet MS"/>
                <a:ea typeface="Trebuchet MS"/>
                <a:cs typeface="Trebuchet MS"/>
              </a:rPr>
              <a:t>US6</a:t>
            </a:r>
            <a:endParaRPr sz="2400"/>
          </a:p>
        </p:txBody>
      </p:sp>
      <p:sp>
        <p:nvSpPr>
          <p:cNvPr id="1211317696" name="Text 32"/>
          <p:cNvSpPr/>
          <p:nvPr/>
        </p:nvSpPr>
        <p:spPr bwMode="auto">
          <a:xfrm>
            <a:off x="2048256" y="7607808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Creazione Playlist</a:t>
            </a:r>
            <a:endParaRPr sz="2400"/>
          </a:p>
        </p:txBody>
      </p:sp>
      <p:sp>
        <p:nvSpPr>
          <p:cNvPr id="1493537475" name="Shape 33"/>
          <p:cNvSpPr/>
          <p:nvPr/>
        </p:nvSpPr>
        <p:spPr bwMode="auto">
          <a:xfrm>
            <a:off x="7644384" y="7790685"/>
            <a:ext cx="548640" cy="548640"/>
          </a:xfrm>
          <a:prstGeom prst="ellipse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318206614" name="Text 34"/>
          <p:cNvSpPr/>
          <p:nvPr/>
        </p:nvSpPr>
        <p:spPr bwMode="auto">
          <a:xfrm>
            <a:off x="7644384" y="7790685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2</a:t>
            </a:r>
            <a:endParaRPr sz="2400"/>
          </a:p>
        </p:txBody>
      </p:sp>
      <p:sp>
        <p:nvSpPr>
          <p:cNvPr id="458691149" name="Shape 35"/>
          <p:cNvSpPr/>
          <p:nvPr/>
        </p:nvSpPr>
        <p:spPr bwMode="auto">
          <a:xfrm>
            <a:off x="548640" y="8650224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618050239" name="Shape 36"/>
          <p:cNvSpPr/>
          <p:nvPr/>
        </p:nvSpPr>
        <p:spPr bwMode="auto">
          <a:xfrm>
            <a:off x="548640" y="8650224"/>
            <a:ext cx="128016" cy="914400"/>
          </a:xfrm>
          <a:prstGeom prst="rect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1746666895" name="Text 37"/>
          <p:cNvSpPr/>
          <p:nvPr/>
        </p:nvSpPr>
        <p:spPr bwMode="auto">
          <a:xfrm>
            <a:off x="822960" y="8650224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4C8BF5"/>
                </a:solidFill>
                <a:latin typeface="Trebuchet MS"/>
                <a:ea typeface="Trebuchet MS"/>
                <a:cs typeface="Trebuchet MS"/>
              </a:rPr>
              <a:t>US7</a:t>
            </a:r>
            <a:endParaRPr sz="2400"/>
          </a:p>
        </p:txBody>
      </p:sp>
      <p:sp>
        <p:nvSpPr>
          <p:cNvPr id="2091721925" name="Text 38"/>
          <p:cNvSpPr/>
          <p:nvPr/>
        </p:nvSpPr>
        <p:spPr bwMode="auto">
          <a:xfrm>
            <a:off x="2048256" y="8650224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Aggiunta Tracce a Playlist</a:t>
            </a:r>
            <a:endParaRPr sz="2400"/>
          </a:p>
        </p:txBody>
      </p:sp>
      <p:sp>
        <p:nvSpPr>
          <p:cNvPr id="99881170" name="Shape 39"/>
          <p:cNvSpPr/>
          <p:nvPr/>
        </p:nvSpPr>
        <p:spPr bwMode="auto">
          <a:xfrm>
            <a:off x="7644384" y="8833104"/>
            <a:ext cx="548640" cy="548640"/>
          </a:xfrm>
          <a:prstGeom prst="ellipse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1561387416" name="Text 40"/>
          <p:cNvSpPr/>
          <p:nvPr/>
        </p:nvSpPr>
        <p:spPr bwMode="auto">
          <a:xfrm>
            <a:off x="7644384" y="88331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2</a:t>
            </a:r>
            <a:endParaRPr sz="2400"/>
          </a:p>
        </p:txBody>
      </p:sp>
      <p:sp>
        <p:nvSpPr>
          <p:cNvPr id="965360860" name="Shape 41"/>
          <p:cNvSpPr/>
          <p:nvPr/>
        </p:nvSpPr>
        <p:spPr bwMode="auto">
          <a:xfrm>
            <a:off x="9418320" y="3438144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718841691" name="Shape 42"/>
          <p:cNvSpPr/>
          <p:nvPr/>
        </p:nvSpPr>
        <p:spPr bwMode="auto">
          <a:xfrm>
            <a:off x="9418320" y="3438144"/>
            <a:ext cx="128016" cy="914400"/>
          </a:xfrm>
          <a:prstGeom prst="rect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476592618" name="Text 43"/>
          <p:cNvSpPr/>
          <p:nvPr/>
        </p:nvSpPr>
        <p:spPr bwMode="auto">
          <a:xfrm>
            <a:off x="9692640" y="3438144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4C8BF5"/>
                </a:solidFill>
                <a:latin typeface="Trebuchet MS"/>
                <a:ea typeface="Trebuchet MS"/>
                <a:cs typeface="Trebuchet MS"/>
              </a:rPr>
              <a:t>US8</a:t>
            </a:r>
            <a:endParaRPr sz="2400"/>
          </a:p>
        </p:txBody>
      </p:sp>
      <p:sp>
        <p:nvSpPr>
          <p:cNvPr id="403685657" name="Text 44"/>
          <p:cNvSpPr/>
          <p:nvPr/>
        </p:nvSpPr>
        <p:spPr bwMode="auto">
          <a:xfrm>
            <a:off x="10917936" y="3438144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Rimozione Tracce da Playlist</a:t>
            </a:r>
            <a:endParaRPr sz="2400"/>
          </a:p>
        </p:txBody>
      </p:sp>
      <p:sp>
        <p:nvSpPr>
          <p:cNvPr id="1567636792" name="Shape 45"/>
          <p:cNvSpPr/>
          <p:nvPr/>
        </p:nvSpPr>
        <p:spPr bwMode="auto">
          <a:xfrm>
            <a:off x="16514064" y="3621024"/>
            <a:ext cx="548640" cy="548640"/>
          </a:xfrm>
          <a:prstGeom prst="ellipse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2007782716" name="Text 46"/>
          <p:cNvSpPr/>
          <p:nvPr/>
        </p:nvSpPr>
        <p:spPr bwMode="auto">
          <a:xfrm>
            <a:off x="16514064" y="36210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1</a:t>
            </a:r>
            <a:endParaRPr sz="2400"/>
          </a:p>
        </p:txBody>
      </p:sp>
      <p:sp>
        <p:nvSpPr>
          <p:cNvPr id="1865944299" name="Shape 47"/>
          <p:cNvSpPr/>
          <p:nvPr/>
        </p:nvSpPr>
        <p:spPr bwMode="auto">
          <a:xfrm>
            <a:off x="9418320" y="448056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1990824089" name="Shape 48"/>
          <p:cNvSpPr/>
          <p:nvPr/>
        </p:nvSpPr>
        <p:spPr bwMode="auto">
          <a:xfrm>
            <a:off x="9418320" y="4480560"/>
            <a:ext cx="128016" cy="914400"/>
          </a:xfrm>
          <a:prstGeom prst="rect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1371212261" name="Text 49"/>
          <p:cNvSpPr/>
          <p:nvPr/>
        </p:nvSpPr>
        <p:spPr bwMode="auto">
          <a:xfrm>
            <a:off x="9692640" y="448056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4C8BF5"/>
                </a:solidFill>
                <a:latin typeface="Trebuchet MS"/>
                <a:ea typeface="Trebuchet MS"/>
                <a:cs typeface="Trebuchet MS"/>
              </a:rPr>
              <a:t>US9</a:t>
            </a:r>
            <a:endParaRPr sz="2400"/>
          </a:p>
        </p:txBody>
      </p:sp>
      <p:sp>
        <p:nvSpPr>
          <p:cNvPr id="2120655295" name="Text 50"/>
          <p:cNvSpPr/>
          <p:nvPr/>
        </p:nvSpPr>
        <p:spPr bwMode="auto">
          <a:xfrm>
            <a:off x="10917936" y="4480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Visualizzazione Playlist</a:t>
            </a:r>
            <a:endParaRPr sz="2400"/>
          </a:p>
        </p:txBody>
      </p:sp>
      <p:sp>
        <p:nvSpPr>
          <p:cNvPr id="744016317" name="Shape 51"/>
          <p:cNvSpPr/>
          <p:nvPr/>
        </p:nvSpPr>
        <p:spPr bwMode="auto">
          <a:xfrm>
            <a:off x="16514064" y="4663440"/>
            <a:ext cx="548640" cy="548640"/>
          </a:xfrm>
          <a:prstGeom prst="ellipse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888650025" name="Text 52"/>
          <p:cNvSpPr/>
          <p:nvPr/>
        </p:nvSpPr>
        <p:spPr bwMode="auto">
          <a:xfrm>
            <a:off x="16514064" y="4663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1</a:t>
            </a:r>
            <a:endParaRPr sz="2400"/>
          </a:p>
        </p:txBody>
      </p:sp>
      <p:sp>
        <p:nvSpPr>
          <p:cNvPr id="1836936501" name="Shape 53"/>
          <p:cNvSpPr/>
          <p:nvPr/>
        </p:nvSpPr>
        <p:spPr bwMode="auto">
          <a:xfrm>
            <a:off x="9418320" y="5522976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2057115270" name="Shape 54"/>
          <p:cNvSpPr/>
          <p:nvPr/>
        </p:nvSpPr>
        <p:spPr bwMode="auto">
          <a:xfrm>
            <a:off x="9418320" y="5522976"/>
            <a:ext cx="128016" cy="914400"/>
          </a:xfrm>
          <a:prstGeom prst="rect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602913446" name="Text 55"/>
          <p:cNvSpPr/>
          <p:nvPr/>
        </p:nvSpPr>
        <p:spPr bwMode="auto">
          <a:xfrm>
            <a:off x="9692640" y="5522976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4C8BF5"/>
                </a:solidFill>
                <a:latin typeface="Trebuchet MS"/>
                <a:ea typeface="Trebuchet MS"/>
                <a:cs typeface="Trebuchet MS"/>
              </a:rPr>
              <a:t>US10</a:t>
            </a:r>
            <a:endParaRPr sz="2400"/>
          </a:p>
        </p:txBody>
      </p:sp>
      <p:sp>
        <p:nvSpPr>
          <p:cNvPr id="803842460" name="Text 56"/>
          <p:cNvSpPr/>
          <p:nvPr/>
        </p:nvSpPr>
        <p:spPr bwMode="auto">
          <a:xfrm>
            <a:off x="10917936" y="5522976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Modifica Nome Playlist</a:t>
            </a:r>
            <a:endParaRPr sz="2400"/>
          </a:p>
        </p:txBody>
      </p:sp>
      <p:sp>
        <p:nvSpPr>
          <p:cNvPr id="1254233910" name="Shape 57"/>
          <p:cNvSpPr/>
          <p:nvPr/>
        </p:nvSpPr>
        <p:spPr bwMode="auto">
          <a:xfrm>
            <a:off x="16514064" y="5705856"/>
            <a:ext cx="548640" cy="548640"/>
          </a:xfrm>
          <a:prstGeom prst="ellipse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921299059" name="Text 58"/>
          <p:cNvSpPr/>
          <p:nvPr/>
        </p:nvSpPr>
        <p:spPr bwMode="auto">
          <a:xfrm>
            <a:off x="16514064" y="570585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1</a:t>
            </a:r>
            <a:endParaRPr sz="2400"/>
          </a:p>
        </p:txBody>
      </p:sp>
      <p:sp>
        <p:nvSpPr>
          <p:cNvPr id="184125570" name="Shape 59"/>
          <p:cNvSpPr/>
          <p:nvPr/>
        </p:nvSpPr>
        <p:spPr bwMode="auto">
          <a:xfrm>
            <a:off x="9418320" y="6565392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929767579" name="Shape 60"/>
          <p:cNvSpPr/>
          <p:nvPr/>
        </p:nvSpPr>
        <p:spPr bwMode="auto">
          <a:xfrm>
            <a:off x="9418320" y="6565392"/>
            <a:ext cx="128016" cy="9144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238014992" name="Text 61"/>
          <p:cNvSpPr/>
          <p:nvPr/>
        </p:nvSpPr>
        <p:spPr bwMode="auto">
          <a:xfrm>
            <a:off x="9692640" y="6565392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E67E22"/>
                </a:solidFill>
                <a:latin typeface="Trebuchet MS"/>
                <a:ea typeface="Trebuchet MS"/>
                <a:cs typeface="Trebuchet MS"/>
              </a:rPr>
              <a:t>US16</a:t>
            </a:r>
            <a:endParaRPr sz="2400"/>
          </a:p>
        </p:txBody>
      </p:sp>
      <p:sp>
        <p:nvSpPr>
          <p:cNvPr id="1667560575" name="Text 62"/>
          <p:cNvSpPr/>
          <p:nvPr/>
        </p:nvSpPr>
        <p:spPr bwMode="auto">
          <a:xfrm>
            <a:off x="10917936" y="6565392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Riproduzione Traccia</a:t>
            </a:r>
            <a:endParaRPr sz="2400"/>
          </a:p>
        </p:txBody>
      </p:sp>
      <p:sp>
        <p:nvSpPr>
          <p:cNvPr id="1219147316" name="Shape 63"/>
          <p:cNvSpPr/>
          <p:nvPr/>
        </p:nvSpPr>
        <p:spPr bwMode="auto">
          <a:xfrm>
            <a:off x="16514064" y="6748272"/>
            <a:ext cx="548640" cy="54864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317245588" name="Text 64"/>
          <p:cNvSpPr/>
          <p:nvPr/>
        </p:nvSpPr>
        <p:spPr bwMode="auto">
          <a:xfrm>
            <a:off x="16514064" y="67482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2</a:t>
            </a:r>
            <a:endParaRPr sz="2400"/>
          </a:p>
        </p:txBody>
      </p:sp>
      <p:sp>
        <p:nvSpPr>
          <p:cNvPr id="563374897" name="Shape 65"/>
          <p:cNvSpPr/>
          <p:nvPr/>
        </p:nvSpPr>
        <p:spPr bwMode="auto">
          <a:xfrm>
            <a:off x="9418320" y="7607808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551555624" name="Shape 66"/>
          <p:cNvSpPr/>
          <p:nvPr/>
        </p:nvSpPr>
        <p:spPr bwMode="auto">
          <a:xfrm>
            <a:off x="9418320" y="7607808"/>
            <a:ext cx="128016" cy="9144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1230304950" name="Text 67"/>
          <p:cNvSpPr/>
          <p:nvPr/>
        </p:nvSpPr>
        <p:spPr bwMode="auto">
          <a:xfrm>
            <a:off x="9692640" y="7607808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E67E22"/>
                </a:solidFill>
                <a:latin typeface="Trebuchet MS"/>
                <a:ea typeface="Trebuchet MS"/>
                <a:cs typeface="Trebuchet MS"/>
              </a:rPr>
              <a:t>US17</a:t>
            </a:r>
            <a:endParaRPr sz="2400"/>
          </a:p>
        </p:txBody>
      </p:sp>
      <p:sp>
        <p:nvSpPr>
          <p:cNvPr id="2101005682" name="Text 68"/>
          <p:cNvSpPr/>
          <p:nvPr/>
        </p:nvSpPr>
        <p:spPr bwMode="auto">
          <a:xfrm>
            <a:off x="10917936" y="7607808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Riproduzione in Pausa</a:t>
            </a:r>
            <a:endParaRPr sz="2400"/>
          </a:p>
        </p:txBody>
      </p:sp>
      <p:sp>
        <p:nvSpPr>
          <p:cNvPr id="216710471" name="Shape 69"/>
          <p:cNvSpPr/>
          <p:nvPr/>
        </p:nvSpPr>
        <p:spPr bwMode="auto">
          <a:xfrm>
            <a:off x="16514064" y="7790685"/>
            <a:ext cx="548640" cy="54864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187434989" name="Text 70"/>
          <p:cNvSpPr/>
          <p:nvPr/>
        </p:nvSpPr>
        <p:spPr bwMode="auto">
          <a:xfrm>
            <a:off x="16514064" y="7790685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2</a:t>
            </a:r>
            <a:endParaRPr sz="2400"/>
          </a:p>
        </p:txBody>
      </p:sp>
      <p:sp>
        <p:nvSpPr>
          <p:cNvPr id="1831029476" name="Shape 71"/>
          <p:cNvSpPr/>
          <p:nvPr/>
        </p:nvSpPr>
        <p:spPr bwMode="auto">
          <a:xfrm>
            <a:off x="9418320" y="8650224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297903585" name="Shape 72"/>
          <p:cNvSpPr/>
          <p:nvPr/>
        </p:nvSpPr>
        <p:spPr bwMode="auto">
          <a:xfrm>
            <a:off x="9418320" y="8650224"/>
            <a:ext cx="128016" cy="914400"/>
          </a:xfrm>
          <a:prstGeom prst="rect">
            <a:avLst/>
          </a:prstGeom>
          <a:solidFill>
            <a:srgbClr val="C678DD"/>
          </a:solidFill>
          <a:ln w="12700">
            <a:solidFill>
              <a:srgbClr val="C678DD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1605548241" name="Text 73"/>
          <p:cNvSpPr/>
          <p:nvPr/>
        </p:nvSpPr>
        <p:spPr bwMode="auto">
          <a:xfrm>
            <a:off x="9692640" y="8650224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C678DD"/>
                </a:solidFill>
                <a:latin typeface="Trebuchet MS"/>
                <a:ea typeface="Trebuchet MS"/>
                <a:cs typeface="Trebuchet MS"/>
              </a:rPr>
              <a:t>US23</a:t>
            </a:r>
            <a:endParaRPr sz="2400"/>
          </a:p>
        </p:txBody>
      </p:sp>
      <p:sp>
        <p:nvSpPr>
          <p:cNvPr id="858952318" name="Text 74"/>
          <p:cNvSpPr/>
          <p:nvPr/>
        </p:nvSpPr>
        <p:spPr bwMode="auto">
          <a:xfrm>
            <a:off x="10917936" y="8650224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Aggiornamento UI in Tempo Reale</a:t>
            </a:r>
            <a:endParaRPr sz="2400"/>
          </a:p>
        </p:txBody>
      </p:sp>
      <p:sp>
        <p:nvSpPr>
          <p:cNvPr id="305219492" name="Shape 75"/>
          <p:cNvSpPr/>
          <p:nvPr/>
        </p:nvSpPr>
        <p:spPr bwMode="auto">
          <a:xfrm>
            <a:off x="16514064" y="8833104"/>
            <a:ext cx="548640" cy="548640"/>
          </a:xfrm>
          <a:prstGeom prst="ellipse">
            <a:avLst/>
          </a:prstGeom>
          <a:solidFill>
            <a:srgbClr val="C678DD"/>
          </a:solidFill>
          <a:ln w="12700">
            <a:solidFill>
              <a:srgbClr val="C678DD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938293954" name="Text 76"/>
          <p:cNvSpPr/>
          <p:nvPr/>
        </p:nvSpPr>
        <p:spPr bwMode="auto">
          <a:xfrm>
            <a:off x="16514064" y="88331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3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7A8B9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1390706" name="Freeform 2"/>
          <p:cNvSpPr/>
          <p:nvPr/>
        </p:nvSpPr>
        <p:spPr bwMode="auto">
          <a:xfrm rot="2172845" flipH="0" flipV="0">
            <a:off x="8038957" y="-5373022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 fill="norm" stroke="1" extrusionOk="0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5000"/>
            </a:blip>
            <a:stretch>
              <a:fillRect l="0" t="0" r="0" b="0"/>
            </a:stretch>
          </a:blipFill>
        </p:spPr>
      </p:sp>
      <p:grpSp>
        <p:nvGrpSpPr>
          <p:cNvPr id="1493351829" name="Group 3"/>
          <p:cNvGrpSpPr/>
          <p:nvPr/>
        </p:nvGrpSpPr>
        <p:grpSpPr bwMode="auto">
          <a:xfrm rot="0">
            <a:off x="2062268" y="3927125"/>
            <a:ext cx="721725" cy="72172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A8B9B"/>
            </a:solidFill>
            <a:ln w="9525" cap="sq">
              <a:solidFill>
                <a:srgbClr val="FBF7E3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76200" y="123825"/>
              <a:ext cx="660400" cy="6127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6"/>
                </a:lnSpc>
                <a:defRPr/>
              </a:pPr>
              <a:endParaRPr/>
            </a:p>
          </p:txBody>
        </p:sp>
      </p:grpSp>
      <p:grpSp>
        <p:nvGrpSpPr>
          <p:cNvPr id="1696802900" name="Group 6"/>
          <p:cNvGrpSpPr/>
          <p:nvPr/>
        </p:nvGrpSpPr>
        <p:grpSpPr bwMode="auto">
          <a:xfrm rot="0">
            <a:off x="2062268" y="5752224"/>
            <a:ext cx="721725" cy="72172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A8B9B"/>
            </a:solidFill>
            <a:ln w="9525" cap="sq">
              <a:solidFill>
                <a:srgbClr val="FBF7E3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 bwMode="auto">
            <a:xfrm>
              <a:off x="76200" y="123825"/>
              <a:ext cx="660400" cy="6127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6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grpSp>
        <p:nvGrpSpPr>
          <p:cNvPr id="624644514" name="Group 9"/>
          <p:cNvGrpSpPr/>
          <p:nvPr/>
        </p:nvGrpSpPr>
        <p:grpSpPr bwMode="auto">
          <a:xfrm rot="0">
            <a:off x="10591771" y="3849270"/>
            <a:ext cx="721725" cy="72172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A8B9B"/>
            </a:solidFill>
            <a:ln w="9525" cap="sq">
              <a:solidFill>
                <a:srgbClr val="FBF7E3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76200" y="123825"/>
              <a:ext cx="660400" cy="6127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6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grpSp>
        <p:nvGrpSpPr>
          <p:cNvPr id="1213884674" name="Group 12"/>
          <p:cNvGrpSpPr/>
          <p:nvPr/>
        </p:nvGrpSpPr>
        <p:grpSpPr bwMode="auto">
          <a:xfrm rot="0">
            <a:off x="10751210" y="6811747"/>
            <a:ext cx="721725" cy="721725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A8B9B"/>
            </a:solidFill>
            <a:ln w="9525" cap="sq">
              <a:solidFill>
                <a:srgbClr val="FBF7E3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76200" y="123825"/>
              <a:ext cx="660400" cy="6127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6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sp>
        <p:nvSpPr>
          <p:cNvPr id="103159116" name="TextBox 15"/>
          <p:cNvSpPr txBox="1"/>
          <p:nvPr/>
        </p:nvSpPr>
        <p:spPr bwMode="auto">
          <a:xfrm rot="0">
            <a:off x="5513888" y="708615"/>
            <a:ext cx="8193731" cy="2549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99"/>
              </a:lnSpc>
              <a:defRPr/>
            </a:pPr>
            <a:r>
              <a:rPr lang="en-US" sz="10000" b="1">
                <a:solidFill>
                  <a:srgbClr val="FBF7E3"/>
                </a:solidFill>
                <a:latin typeface="Agrandir Bold"/>
                <a:ea typeface="Agrandir Bold"/>
                <a:cs typeface="Agrandir Bold"/>
              </a:rPr>
              <a:t>Definition of Done</a:t>
            </a:r>
            <a:endParaRPr/>
          </a:p>
        </p:txBody>
      </p:sp>
      <p:sp>
        <p:nvSpPr>
          <p:cNvPr id="1056230915" name="TextBox 16"/>
          <p:cNvSpPr txBox="1"/>
          <p:nvPr/>
        </p:nvSpPr>
        <p:spPr bwMode="auto">
          <a:xfrm rot="0">
            <a:off x="2200462" y="4088647"/>
            <a:ext cx="423427" cy="428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7"/>
              </a:lnSpc>
              <a:defRPr/>
            </a:pPr>
            <a:r>
              <a:rPr lang="en-US" sz="3150" spc="-94">
                <a:solidFill>
                  <a:srgbClr val="FBF7E3"/>
                </a:solidFill>
                <a:latin typeface="Open Sauce"/>
                <a:ea typeface="Open Sauce"/>
                <a:cs typeface="Open Sauce"/>
              </a:rPr>
              <a:t>1</a:t>
            </a:r>
            <a:endParaRPr/>
          </a:p>
        </p:txBody>
      </p:sp>
      <p:sp>
        <p:nvSpPr>
          <p:cNvPr id="784320101" name="TextBox 17"/>
          <p:cNvSpPr txBox="1"/>
          <p:nvPr/>
        </p:nvSpPr>
        <p:spPr bwMode="auto">
          <a:xfrm rot="0">
            <a:off x="2221708" y="5913746"/>
            <a:ext cx="423427" cy="428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7"/>
              </a:lnSpc>
              <a:defRPr/>
            </a:pPr>
            <a:r>
              <a:rPr lang="en-US" sz="3150" spc="-94">
                <a:solidFill>
                  <a:srgbClr val="FBF7E3"/>
                </a:solidFill>
                <a:latin typeface="Open Sauce"/>
                <a:ea typeface="Open Sauce"/>
                <a:cs typeface="Open Sauce"/>
              </a:rPr>
              <a:t>2</a:t>
            </a:r>
            <a:endParaRPr/>
          </a:p>
        </p:txBody>
      </p:sp>
      <p:sp>
        <p:nvSpPr>
          <p:cNvPr id="717623732" name="TextBox 18"/>
          <p:cNvSpPr txBox="1"/>
          <p:nvPr/>
        </p:nvSpPr>
        <p:spPr bwMode="auto">
          <a:xfrm rot="0">
            <a:off x="3118409" y="3957613"/>
            <a:ext cx="6492345" cy="69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1"/>
              </a:lnSpc>
              <a:defRPr/>
            </a:pPr>
            <a:r>
              <a:rPr lang="en-US" sz="2700" spc="-136">
                <a:solidFill>
                  <a:srgbClr val="FBF7E3"/>
                </a:solidFill>
                <a:latin typeface="Open Sauce"/>
                <a:ea typeface="Open Sauce"/>
                <a:cs typeface="Open Sauce"/>
              </a:rPr>
              <a:t>Tutti</a:t>
            </a:r>
            <a:r>
              <a:rPr lang="en-US" sz="2700" spc="-136">
                <a:solidFill>
                  <a:srgbClr val="FBF7E3"/>
                </a:solidFill>
                <a:latin typeface="Open Sauce"/>
                <a:ea typeface="Open Sauce"/>
                <a:cs typeface="Open Sauce"/>
              </a:rPr>
              <a:t> i criteri di accettazione definiti nella User Story sono stati verificati e soddisfatti.</a:t>
            </a:r>
            <a:endParaRPr/>
          </a:p>
        </p:txBody>
      </p:sp>
      <p:sp>
        <p:nvSpPr>
          <p:cNvPr id="1150254589" name="TextBox 19"/>
          <p:cNvSpPr txBox="1"/>
          <p:nvPr/>
        </p:nvSpPr>
        <p:spPr bwMode="auto">
          <a:xfrm rot="0">
            <a:off x="11808796" y="3906420"/>
            <a:ext cx="4323997" cy="2389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1"/>
              </a:lnSpc>
              <a:defRPr/>
            </a:pPr>
            <a:r>
              <a:rPr lang="en-US" sz="2700" spc="-136">
                <a:solidFill>
                  <a:srgbClr val="FBF7E3"/>
                </a:solidFill>
                <a:latin typeface="Open Sauce"/>
                <a:ea typeface="Open Sauce"/>
                <a:cs typeface="Open Sauce"/>
              </a:rPr>
              <a:t>Sono stati scritti ed eseguiti con successo unit test automatizzati (tramite JUnit), insieme ai test di integrazione necessari a coprire la nuova logica di business.</a:t>
            </a:r>
            <a:endParaRPr/>
          </a:p>
        </p:txBody>
      </p:sp>
      <p:sp>
        <p:nvSpPr>
          <p:cNvPr id="875900392" name="TextBox 20"/>
          <p:cNvSpPr txBox="1"/>
          <p:nvPr/>
        </p:nvSpPr>
        <p:spPr bwMode="auto">
          <a:xfrm rot="0">
            <a:off x="10751210" y="4010792"/>
            <a:ext cx="423427" cy="428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7"/>
              </a:lnSpc>
              <a:defRPr/>
            </a:pPr>
            <a:r>
              <a:rPr lang="en-US" sz="3150" spc="-94">
                <a:solidFill>
                  <a:srgbClr val="FBF7E3"/>
                </a:solidFill>
                <a:latin typeface="Open Sauce"/>
                <a:ea typeface="Open Sauce"/>
                <a:cs typeface="Open Sauce"/>
              </a:rPr>
              <a:t>3</a:t>
            </a:r>
            <a:endParaRPr/>
          </a:p>
        </p:txBody>
      </p:sp>
      <p:sp>
        <p:nvSpPr>
          <p:cNvPr id="655669511" name="TextBox 21"/>
          <p:cNvSpPr txBox="1"/>
          <p:nvPr/>
        </p:nvSpPr>
        <p:spPr bwMode="auto">
          <a:xfrm rot="0">
            <a:off x="3118409" y="5923271"/>
            <a:ext cx="4323997" cy="3068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1"/>
              </a:lnSpc>
              <a:defRPr/>
            </a:pPr>
            <a:r>
              <a:rPr lang="en-US" sz="2700" spc="-136">
                <a:solidFill>
                  <a:srgbClr val="FBF7E3"/>
                </a:solidFill>
                <a:latin typeface="Open Sauce"/>
                <a:ea typeface="Open Sauce"/>
                <a:cs typeface="Open Sauce"/>
              </a:rPr>
              <a:t>Il codic</a:t>
            </a:r>
            <a:r>
              <a:rPr lang="en-US" sz="2700" spc="-136">
                <a:solidFill>
                  <a:srgbClr val="FBF7E3"/>
                </a:solidFill>
                <a:latin typeface="Open Sauce"/>
                <a:ea typeface="Open Sauce"/>
                <a:cs typeface="Open Sauce"/>
              </a:rPr>
              <a:t>e sorgente è risultato pulito, senza errori di compilazione e correttamente commentato, nel rispetto delle convenzioni Java, inclusa la documentazione tramite Javadoc per classi e metodi pubblici.</a:t>
            </a:r>
            <a:endParaRPr/>
          </a:p>
        </p:txBody>
      </p:sp>
      <p:sp>
        <p:nvSpPr>
          <p:cNvPr id="1759020416" name="TextBox 22"/>
          <p:cNvSpPr txBox="1"/>
          <p:nvPr/>
        </p:nvSpPr>
        <p:spPr bwMode="auto">
          <a:xfrm rot="0">
            <a:off x="10910650" y="6973268"/>
            <a:ext cx="423427" cy="428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7"/>
              </a:lnSpc>
              <a:defRPr/>
            </a:pPr>
            <a:r>
              <a:rPr lang="en-US" sz="3150" spc="-94">
                <a:solidFill>
                  <a:srgbClr val="FBF7E3"/>
                </a:solidFill>
                <a:latin typeface="Open Sauce"/>
                <a:ea typeface="Open Sauce"/>
                <a:cs typeface="Open Sauce"/>
              </a:rPr>
              <a:t>4</a:t>
            </a:r>
            <a:endParaRPr/>
          </a:p>
        </p:txBody>
      </p:sp>
      <p:sp>
        <p:nvSpPr>
          <p:cNvPr id="1897670867" name="TextBox 23"/>
          <p:cNvSpPr txBox="1"/>
          <p:nvPr/>
        </p:nvSpPr>
        <p:spPr bwMode="auto">
          <a:xfrm rot="0">
            <a:off x="11795832" y="6868897"/>
            <a:ext cx="4323997" cy="2389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1"/>
              </a:lnSpc>
              <a:defRPr/>
            </a:pPr>
            <a:r>
              <a:rPr lang="en-US" sz="2700" spc="-136">
                <a:solidFill>
                  <a:srgbClr val="FBF7E3"/>
                </a:solidFill>
                <a:latin typeface="Open Sauce"/>
                <a:ea typeface="Open Sauce"/>
                <a:cs typeface="Open Sauce"/>
              </a:rPr>
              <a:t>Il codice è stato caricato su GitHub ed è stato</a:t>
            </a:r>
            <a:r>
              <a:rPr lang="en-US" sz="2700" spc="-136">
                <a:solidFill>
                  <a:srgbClr val="FBF7E3"/>
                </a:solidFill>
                <a:latin typeface="Open Sauce"/>
                <a:ea typeface="Open Sauce"/>
                <a:cs typeface="Open Sauce"/>
              </a:rPr>
              <a:t> sottoposto a peer review da almeno un altro membro del team, tramite approvazione di una pull request prima del merge finale.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0F4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2125244" name="Shape 0"/>
          <p:cNvSpPr/>
          <p:nvPr/>
        </p:nvSpPr>
        <p:spPr bwMode="auto">
          <a:xfrm>
            <a:off x="0" y="0"/>
            <a:ext cx="18288000" cy="201168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87846373" name="Text 1"/>
          <p:cNvSpPr/>
          <p:nvPr/>
        </p:nvSpPr>
        <p:spPr bwMode="auto">
          <a:xfrm>
            <a:off x="914400" y="0"/>
            <a:ext cx="16459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48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DESIGN PATTERNS</a:t>
            </a:r>
            <a:r>
              <a:rPr lang="it-IT" sz="4800"/>
              <a:t> </a:t>
            </a:r>
            <a:r>
              <a:rPr lang="it-IT" sz="4800" b="1">
                <a:solidFill>
                  <a:schemeClr val="bg1"/>
                </a:solidFill>
              </a:rPr>
              <a:t>POSSIBILI</a:t>
            </a:r>
            <a:endParaRPr sz="4800">
              <a:solidFill>
                <a:schemeClr val="bg1"/>
              </a:solidFill>
            </a:endParaRPr>
          </a:p>
        </p:txBody>
      </p:sp>
      <p:sp>
        <p:nvSpPr>
          <p:cNvPr id="894006187" name="Shape 2"/>
          <p:cNvSpPr/>
          <p:nvPr/>
        </p:nvSpPr>
        <p:spPr bwMode="auto">
          <a:xfrm>
            <a:off x="0" y="2011680"/>
            <a:ext cx="18288000" cy="1097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34491530" name="Shape 3"/>
          <p:cNvSpPr/>
          <p:nvPr/>
        </p:nvSpPr>
        <p:spPr bwMode="auto">
          <a:xfrm>
            <a:off x="548640" y="2468880"/>
            <a:ext cx="8046720" cy="3108960"/>
          </a:xfrm>
          <a:prstGeom prst="rect">
            <a:avLst/>
          </a:prstGeom>
          <a:solidFill>
            <a:srgbClr val="1B4332"/>
          </a:solidFill>
          <a:ln w="25400">
            <a:solidFill>
              <a:srgbClr val="52B788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  <p:txBody>
          <a:bodyPr anchor="ctr"/>
          <a:p>
            <a:pPr algn="ctr">
              <a:defRPr/>
            </a:pPr>
            <a:endParaRPr sz="3600"/>
          </a:p>
        </p:txBody>
      </p:sp>
      <p:sp>
        <p:nvSpPr>
          <p:cNvPr id="1650855066" name="Shape 4"/>
          <p:cNvSpPr/>
          <p:nvPr/>
        </p:nvSpPr>
        <p:spPr bwMode="auto">
          <a:xfrm>
            <a:off x="548640" y="2468880"/>
            <a:ext cx="182880" cy="31089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3600"/>
          </a:p>
        </p:txBody>
      </p:sp>
      <p:sp>
        <p:nvSpPr>
          <p:cNvPr id="1681816372" name="Text 5"/>
          <p:cNvSpPr/>
          <p:nvPr/>
        </p:nvSpPr>
        <p:spPr bwMode="auto">
          <a:xfrm flipH="0" flipV="0">
            <a:off x="3198222" y="3639309"/>
            <a:ext cx="2747551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600" b="1">
                <a:solidFill>
                  <a:srgbClr val="52B788"/>
                </a:solidFill>
                <a:latin typeface="Trebuchet MS"/>
                <a:ea typeface="Trebuchet MS"/>
                <a:cs typeface="Trebuchet MS"/>
              </a:rPr>
              <a:t>Composite</a:t>
            </a:r>
            <a:endParaRPr sz="3600"/>
          </a:p>
        </p:txBody>
      </p:sp>
      <p:sp>
        <p:nvSpPr>
          <p:cNvPr id="1149348300" name="Shape 7"/>
          <p:cNvSpPr/>
          <p:nvPr/>
        </p:nvSpPr>
        <p:spPr bwMode="auto">
          <a:xfrm>
            <a:off x="9326880" y="2468880"/>
            <a:ext cx="8046720" cy="3108960"/>
          </a:xfrm>
          <a:prstGeom prst="rect">
            <a:avLst/>
          </a:prstGeom>
          <a:solidFill>
            <a:srgbClr val="1A1C5A"/>
          </a:solidFill>
          <a:ln w="25400">
            <a:solidFill>
              <a:srgbClr val="4C8BF5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  <p:txBody>
          <a:bodyPr anchor="ctr"/>
          <a:p>
            <a:pPr algn="ctr">
              <a:defRPr/>
            </a:pPr>
            <a:endParaRPr sz="3600"/>
          </a:p>
        </p:txBody>
      </p:sp>
      <p:sp>
        <p:nvSpPr>
          <p:cNvPr id="462592842" name="Shape 8"/>
          <p:cNvSpPr/>
          <p:nvPr/>
        </p:nvSpPr>
        <p:spPr bwMode="auto">
          <a:xfrm>
            <a:off x="9326880" y="2468880"/>
            <a:ext cx="182880" cy="3108960"/>
          </a:xfrm>
          <a:prstGeom prst="rect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3600"/>
          </a:p>
        </p:txBody>
      </p:sp>
      <p:sp>
        <p:nvSpPr>
          <p:cNvPr id="1391648156" name="Text 9"/>
          <p:cNvSpPr/>
          <p:nvPr/>
        </p:nvSpPr>
        <p:spPr bwMode="auto">
          <a:xfrm flipH="0" flipV="0">
            <a:off x="12287791" y="3639309"/>
            <a:ext cx="2410704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600" b="1">
                <a:solidFill>
                  <a:srgbClr val="4C8BF5"/>
                </a:solidFill>
                <a:latin typeface="Trebuchet MS"/>
                <a:ea typeface="Trebuchet MS"/>
                <a:cs typeface="Trebuchet MS"/>
              </a:rPr>
              <a:t>Strategy</a:t>
            </a:r>
            <a:endParaRPr sz="3600"/>
          </a:p>
        </p:txBody>
      </p:sp>
      <p:sp>
        <p:nvSpPr>
          <p:cNvPr id="1798265007" name="Shape 11"/>
          <p:cNvSpPr/>
          <p:nvPr/>
        </p:nvSpPr>
        <p:spPr bwMode="auto">
          <a:xfrm>
            <a:off x="548640" y="6126480"/>
            <a:ext cx="8046720" cy="3108960"/>
          </a:xfrm>
          <a:prstGeom prst="rect">
            <a:avLst/>
          </a:prstGeom>
          <a:solidFill>
            <a:srgbClr val="4A1942"/>
          </a:solidFill>
          <a:ln w="25400">
            <a:solidFill>
              <a:srgbClr val="C678DD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  <p:txBody>
          <a:bodyPr anchor="ctr"/>
          <a:p>
            <a:pPr algn="ctr">
              <a:defRPr/>
            </a:pPr>
            <a:endParaRPr sz="3600"/>
          </a:p>
        </p:txBody>
      </p:sp>
      <p:sp>
        <p:nvSpPr>
          <p:cNvPr id="780874437" name="Shape 12"/>
          <p:cNvSpPr/>
          <p:nvPr/>
        </p:nvSpPr>
        <p:spPr bwMode="auto">
          <a:xfrm>
            <a:off x="548640" y="6126480"/>
            <a:ext cx="182880" cy="3108960"/>
          </a:xfrm>
          <a:prstGeom prst="rect">
            <a:avLst/>
          </a:prstGeom>
          <a:solidFill>
            <a:srgbClr val="C678DD"/>
          </a:solidFill>
          <a:ln w="12700">
            <a:solidFill>
              <a:srgbClr val="C678DD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3600"/>
          </a:p>
        </p:txBody>
      </p:sp>
      <p:sp>
        <p:nvSpPr>
          <p:cNvPr id="457469239" name="Text 13"/>
          <p:cNvSpPr/>
          <p:nvPr/>
        </p:nvSpPr>
        <p:spPr bwMode="auto">
          <a:xfrm flipH="0" flipV="0">
            <a:off x="3198222" y="7168896"/>
            <a:ext cx="2743197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600" b="1">
                <a:solidFill>
                  <a:srgbClr val="C678DD"/>
                </a:solidFill>
                <a:latin typeface="Trebuchet MS"/>
                <a:ea typeface="Trebuchet MS"/>
                <a:cs typeface="Trebuchet MS"/>
              </a:rPr>
              <a:t>Command</a:t>
            </a:r>
            <a:endParaRPr sz="3600"/>
          </a:p>
        </p:txBody>
      </p:sp>
      <p:sp>
        <p:nvSpPr>
          <p:cNvPr id="2144470597" name="Shape 15"/>
          <p:cNvSpPr/>
          <p:nvPr/>
        </p:nvSpPr>
        <p:spPr bwMode="auto">
          <a:xfrm>
            <a:off x="9326880" y="6126480"/>
            <a:ext cx="8046720" cy="3108960"/>
          </a:xfrm>
          <a:prstGeom prst="rect">
            <a:avLst/>
          </a:prstGeom>
          <a:solidFill>
            <a:srgbClr val="4A2C0A"/>
          </a:solidFill>
          <a:ln w="25400">
            <a:solidFill>
              <a:srgbClr val="E67E22"/>
            </a:solidFill>
            <a:prstDash val="solid"/>
          </a:ln>
          <a:effectLst>
            <a:outerShdw blurRad="127000" dist="38100" dir="8100000" sx="100000" sy="100000" kx="0" ky="0" algn="bl" rotWithShape="0">
              <a:srgbClr val="000000">
                <a:alpha val="18000"/>
              </a:srgbClr>
            </a:outerShdw>
          </a:effectLst>
        </p:spPr>
        <p:txBody>
          <a:bodyPr anchor="ctr"/>
          <a:p>
            <a:pPr algn="ctr">
              <a:defRPr/>
            </a:pPr>
            <a:endParaRPr sz="3600"/>
          </a:p>
        </p:txBody>
      </p:sp>
      <p:sp>
        <p:nvSpPr>
          <p:cNvPr id="662172779" name="Shape 16"/>
          <p:cNvSpPr/>
          <p:nvPr/>
        </p:nvSpPr>
        <p:spPr bwMode="auto">
          <a:xfrm>
            <a:off x="9326880" y="6126480"/>
            <a:ext cx="182880" cy="31089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3600"/>
          </a:p>
        </p:txBody>
      </p:sp>
      <p:sp>
        <p:nvSpPr>
          <p:cNvPr id="602796665" name="Text 17"/>
          <p:cNvSpPr/>
          <p:nvPr/>
        </p:nvSpPr>
        <p:spPr bwMode="auto">
          <a:xfrm flipH="0" flipV="0">
            <a:off x="12287791" y="7168896"/>
            <a:ext cx="2655631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600" b="1">
                <a:solidFill>
                  <a:srgbClr val="E67E22"/>
                </a:solidFill>
                <a:latin typeface="Trebuchet MS"/>
                <a:ea typeface="Trebuchet MS"/>
                <a:cs typeface="Trebuchet MS"/>
              </a:rPr>
              <a:t>Observer</a:t>
            </a:r>
            <a:endParaRPr sz="3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7A8B9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2288118" name="Freeform 2"/>
          <p:cNvSpPr/>
          <p:nvPr/>
        </p:nvSpPr>
        <p:spPr bwMode="auto">
          <a:xfrm rot="0" flipH="0" flipV="0">
            <a:off x="1663649" y="2574533"/>
            <a:ext cx="14960700" cy="6651108"/>
          </a:xfrm>
          <a:custGeom>
            <a:avLst/>
            <a:gdLst/>
            <a:ahLst/>
            <a:cxnLst/>
            <a:rect l="l" t="t" r="r" b="b"/>
            <a:pathLst>
              <a:path w="11301259" h="5283339" fill="norm" stroke="1" extrusionOk="0">
                <a:moveTo>
                  <a:pt x="0" y="0"/>
                </a:moveTo>
                <a:lnTo>
                  <a:pt x="11301258" y="0"/>
                </a:lnTo>
                <a:lnTo>
                  <a:pt x="11301258" y="5283339"/>
                </a:lnTo>
                <a:lnTo>
                  <a:pt x="0" y="52833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sp>
        <p:nvSpPr>
          <p:cNvPr id="1075437329" name="Shape 0"/>
          <p:cNvSpPr/>
          <p:nvPr/>
        </p:nvSpPr>
        <p:spPr bwMode="auto">
          <a:xfrm>
            <a:off x="0" y="0"/>
            <a:ext cx="18288000" cy="201168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062757148" name="Text 1"/>
          <p:cNvSpPr/>
          <p:nvPr/>
        </p:nvSpPr>
        <p:spPr bwMode="auto">
          <a:xfrm>
            <a:off x="914400" y="0"/>
            <a:ext cx="16459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it-IT" sz="48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EXTENDED BURNDOWN CHART</a:t>
            </a:r>
            <a:endParaRPr sz="4800">
              <a:solidFill>
                <a:schemeClr val="bg1"/>
              </a:solidFill>
            </a:endParaRPr>
          </a:p>
        </p:txBody>
      </p:sp>
      <p:sp>
        <p:nvSpPr>
          <p:cNvPr id="1292004164" name="Shape 2"/>
          <p:cNvSpPr/>
          <p:nvPr/>
        </p:nvSpPr>
        <p:spPr bwMode="auto">
          <a:xfrm>
            <a:off x="0" y="2011680"/>
            <a:ext cx="18288000" cy="10972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7A8B9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3765794" name="Freeform 2"/>
          <p:cNvSpPr/>
          <p:nvPr/>
        </p:nvSpPr>
        <p:spPr bwMode="auto">
          <a:xfrm rot="2172845" flipH="0" flipV="0">
            <a:off x="6368285" y="-727739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 fill="norm" stroke="1" extrusionOk="0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5000"/>
            </a:blip>
            <a:stretch>
              <a:fillRect l="0" t="0" r="0" b="0"/>
            </a:stretch>
          </a:blipFill>
        </p:spPr>
      </p:sp>
      <p:sp>
        <p:nvSpPr>
          <p:cNvPr id="2066938253" name="Freeform 3"/>
          <p:cNvSpPr/>
          <p:nvPr/>
        </p:nvSpPr>
        <p:spPr bwMode="auto">
          <a:xfrm rot="2172845" flipH="0" flipV="0">
            <a:off x="-3843661" y="7384212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 fill="norm" stroke="1" extrusionOk="0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5000"/>
            </a:blip>
            <a:stretch>
              <a:fillRect l="0" t="0" r="0" b="0"/>
            </a:stretch>
          </a:blipFill>
        </p:spPr>
      </p:sp>
      <p:sp>
        <p:nvSpPr>
          <p:cNvPr id="964477214" name="TextBox 4"/>
          <p:cNvSpPr txBox="1"/>
          <p:nvPr/>
        </p:nvSpPr>
        <p:spPr bwMode="auto">
          <a:xfrm rot="0">
            <a:off x="1028700" y="5305425"/>
            <a:ext cx="15734787" cy="4641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876"/>
              </a:lnSpc>
              <a:defRPr/>
            </a:pPr>
            <a:r>
              <a:rPr lang="en-US" sz="31600" b="1">
                <a:solidFill>
                  <a:srgbClr val="FBF7E3"/>
                </a:solidFill>
                <a:latin typeface="Agrandir Bold"/>
                <a:ea typeface="Agrandir Bold"/>
                <a:cs typeface="Agrandir Bold"/>
              </a:rPr>
              <a:t>Gr</a:t>
            </a:r>
            <a:r>
              <a:rPr lang="en-US" sz="31600" b="1">
                <a:solidFill>
                  <a:srgbClr val="FBF7E3"/>
                </a:solidFill>
                <a:latin typeface="Agrandir Bold"/>
                <a:ea typeface="Agrandir Bold"/>
                <a:cs typeface="Agrandir Bold"/>
              </a:rPr>
              <a:t>azie</a:t>
            </a:r>
            <a:endParaRPr/>
          </a:p>
        </p:txBody>
      </p:sp>
      <p:sp>
        <p:nvSpPr>
          <p:cNvPr id="2395966" name="AutoShape 5"/>
          <p:cNvSpPr/>
          <p:nvPr/>
        </p:nvSpPr>
        <p:spPr bwMode="auto">
          <a:xfrm>
            <a:off x="1066800" y="9067800"/>
            <a:ext cx="13196080" cy="0"/>
          </a:xfrm>
          <a:prstGeom prst="line">
            <a:avLst/>
          </a:prstGeom>
          <a:ln w="19050" cap="flat">
            <a:solidFill>
              <a:srgbClr val="FBF7E3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Gruppo12 - PreGame</dc:title>
  <dc:identifier>DAHKzUb1Z8U</dc:identifier>
  <cp:lastModifiedBy/>
  <cp:revision>2</cp:revision>
  <dcterms:created xsi:type="dcterms:W3CDTF">2006-08-16T00:00:00Z</dcterms:created>
  <dcterms:modified xsi:type="dcterms:W3CDTF">2026-05-29T15:33:22Z</dcterms:modified>
</cp:coreProperties>
</file>